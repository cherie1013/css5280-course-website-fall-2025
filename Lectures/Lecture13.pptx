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60" r:id="rId4"/>
  </p:sldMasterIdLst>
  <p:notesMasterIdLst>
    <p:notesMasterId r:id="rId26"/>
  </p:notesMasterIdLst>
  <p:sldIdLst>
    <p:sldId id="2364" r:id="rId5"/>
    <p:sldId id="2516" r:id="rId6"/>
    <p:sldId id="2541" r:id="rId7"/>
    <p:sldId id="2542" r:id="rId8"/>
    <p:sldId id="2543" r:id="rId9"/>
    <p:sldId id="2544" r:id="rId10"/>
    <p:sldId id="2545" r:id="rId11"/>
    <p:sldId id="2546" r:id="rId12"/>
    <p:sldId id="2547" r:id="rId13"/>
    <p:sldId id="2548" r:id="rId14"/>
    <p:sldId id="2549" r:id="rId15"/>
    <p:sldId id="2550" r:id="rId16"/>
    <p:sldId id="2551" r:id="rId17"/>
    <p:sldId id="2553" r:id="rId18"/>
    <p:sldId id="2552" r:id="rId19"/>
    <p:sldId id="2554" r:id="rId20"/>
    <p:sldId id="2555" r:id="rId21"/>
    <p:sldId id="2557" r:id="rId22"/>
    <p:sldId id="2556" r:id="rId23"/>
    <p:sldId id="2558" r:id="rId24"/>
    <p:sldId id="2559" r:id="rId2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482">
          <p15:clr>
            <a:srgbClr val="A4A3A4"/>
          </p15:clr>
        </p15:guide>
        <p15:guide id="2" pos="272" userDrawn="1">
          <p15:clr>
            <a:srgbClr val="A4A3A4"/>
          </p15:clr>
        </p15:guide>
        <p15:guide id="3" pos="5488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72C72"/>
    <a:srgbClr val="082D72"/>
    <a:srgbClr val="082E72"/>
    <a:srgbClr val="660874"/>
    <a:srgbClr val="FFFFFF"/>
    <a:srgbClr val="C7E7A3"/>
    <a:srgbClr val="B0DD7F"/>
    <a:srgbClr val="C8000B"/>
    <a:srgbClr val="0000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中度样式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F5AB1C69-6EDB-4FF4-983F-18BD219EF322}" styleName="中度样式 2 - 强调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861" autoAdjust="0"/>
    <p:restoredTop sz="83494" autoAdjust="0"/>
  </p:normalViewPr>
  <p:slideViewPr>
    <p:cSldViewPr snapToGrid="0">
      <p:cViewPr varScale="1">
        <p:scale>
          <a:sx n="89" d="100"/>
          <a:sy n="89" d="100"/>
        </p:scale>
        <p:origin x="2040" y="160"/>
      </p:cViewPr>
      <p:guideLst>
        <p:guide orient="horz" pos="482"/>
        <p:guide pos="272"/>
        <p:guide pos="5488"/>
      </p:guideLst>
    </p:cSldViewPr>
  </p:slideViewPr>
  <p:notesTextViewPr>
    <p:cViewPr>
      <p:scale>
        <a:sx n="125" d="100"/>
        <a:sy n="125" d="100"/>
      </p:scale>
      <p:origin x="0" y="0"/>
    </p:cViewPr>
  </p:notesTextViewPr>
  <p:notesViewPr>
    <p:cSldViewPr snapToGrid="0">
      <p:cViewPr varScale="1">
        <p:scale>
          <a:sx n="84" d="100"/>
          <a:sy n="84" d="100"/>
        </p:scale>
        <p:origin x="3000" y="10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15F15F4-334D-4F36-8FA5-DCC2252A00B7}" type="datetimeFigureOut">
              <a:rPr lang="zh-CN" altLang="en-US" smtClean="0"/>
              <a:t>2025/12/3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8214A57-53EC-482F-81B0-F5278A5F20F2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HK" altLang="en-US" sz="10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D3C21099-6DD6-49D0-A8D0-24D50E7D4E0C}" type="slidenum">
              <a:rPr kumimoji="0" lang="zh-HK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cs typeface="+mn-cs"/>
              </a:rPr>
              <a:t>1</a:t>
            </a:fld>
            <a:endParaRPr kumimoji="0" lang="zh-HK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cs typeface="+mn-cs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730C5B-5A77-DC88-0AD2-021173D527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C72DED07-3480-2CC0-D122-BACFC7793C4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5B98F0EE-9D5A-2F63-07EA-C414C1EDDF8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endParaRPr lang="en-US" altLang="zh-CN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6DA7E17-A70B-B011-3CB7-3967ADA615F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8214A57-53EC-482F-81B0-F5278A5F20F2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8659538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96AB20-1A02-5242-BA2B-5E2CA4C5BF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9422A4B1-E89F-8692-2468-522D8F41016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A5C456B4-6F0C-A622-C48D-BBD9EA4B831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endParaRPr lang="en-US" altLang="zh-CN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9AE4C2D-849A-491D-F8AF-039C44DE0B3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8214A57-53EC-482F-81B0-F5278A5F20F2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4683045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DDBA7A-5595-09EF-D873-83B7F789A3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54610A6A-8C9D-A256-ADBF-B5986DAF135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8CF8A4AA-3889-61FC-169C-BB8562D8E5E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endParaRPr lang="en-US" altLang="zh-CN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09F2863-903B-3A5A-CDC9-47DFC9A393E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8214A57-53EC-482F-81B0-F5278A5F20F2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8192970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DDDC96-4158-275C-EC63-5D100B49A1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F8EA39CA-7E1A-4264-6A27-4BA1E407DF4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BB7D6F62-9948-AA1A-C554-7E2A9C95F0D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endParaRPr lang="en-US" altLang="zh-CN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C14E672-BA83-29EF-D066-48E44630F26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8214A57-53EC-482F-81B0-F5278A5F20F2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5684992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90D81B-C9A7-EB00-B138-A3CF799629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811A7F9D-A4FA-4449-72AD-F3D9CF04C67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6D1DD31E-FF9C-F795-1A76-5A375DCE062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endParaRPr lang="en-US" altLang="zh-CN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C938231-7A01-B421-2BEB-29B4FCF4426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8214A57-53EC-482F-81B0-F5278A5F20F2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711074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7F4294-FB74-6888-D396-186D9C601C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D868A971-7724-374F-2BBE-ABB29B78F87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C02D2207-0127-D035-368B-E55D169EBDA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endParaRPr lang="en-US" altLang="zh-CN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E1CFC75-5AE3-F305-E3A5-200447B660F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8214A57-53EC-482F-81B0-F5278A5F20F2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2804833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328D83-9D61-5470-4CED-16A9A641BD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D2DF4B6B-43B6-C07B-2938-5BEF05C055E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614A69E1-BE41-C891-EC84-BE74BCEB2FB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endParaRPr lang="en-US" altLang="zh-CN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F9181DD-3382-1721-F410-028E875586D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8214A57-53EC-482F-81B0-F5278A5F20F2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1098117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5B364E-7CB0-E6C5-8997-71C0992CE3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6BA0AD9C-BCD0-FC32-CFA2-8A43B6BD603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0141AF69-EDD7-E263-32F3-34E5DF3723D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endParaRPr lang="en-US" altLang="zh-CN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BAC65C4-D336-9F69-DBD6-A945FC9540F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8214A57-53EC-482F-81B0-F5278A5F20F2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4020969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7E3B2A-909C-071B-CBBE-8F136FC296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D899AAB7-F885-E782-B29B-B2064958F53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A2DECD4C-0702-2131-72A6-1D7A9A1AFC8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endParaRPr lang="en-US" altLang="zh-CN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D33B911-55E1-CCE5-E019-106DEA6EFDD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8214A57-53EC-482F-81B0-F5278A5F20F2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3631993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EABA0E-3FC5-2BAF-8E95-7257D8AE57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96343160-45BE-EC65-067B-F76E585C1B9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4BFF7667-5596-3FC6-62A5-2171A20A960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endParaRPr lang="en-US" altLang="zh-CN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A160890-7CB1-B654-A58A-DC8FDBC1C74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8214A57-53EC-482F-81B0-F5278A5F20F2}" type="slidenum">
              <a:rPr lang="zh-CN" altLang="en-US" smtClean="0"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3864693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8B5661-50B1-4DEA-97C9-1DF8F6EFAA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41B6C1B5-AA9C-91A2-D1F0-0EEEBC21FE0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E7118711-2EC8-3C24-4A6E-5509E3D4008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endParaRPr lang="en-US" altLang="zh-CN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5753EF9-BCD2-BA5F-5C6A-C96F13A59FF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8214A57-53EC-482F-81B0-F5278A5F20F2}" type="slidenum">
              <a:rPr lang="zh-CN" altLang="en-US" smtClean="0"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762757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E410E1-9643-A597-895D-ED5F8A6E48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0B36E8B3-5CB1-A48C-D600-C600F3D7F9D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F75D90EA-E179-41FE-053C-0E99E536AA6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endParaRPr lang="en-US" altLang="zh-CN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F832C12-31EF-FAA2-6B6C-00CB54AE3F1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8214A57-53EC-482F-81B0-F5278A5F20F2}" type="slidenum">
              <a:rPr lang="zh-CN" altLang="en-US" smtClean="0"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5603636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509545-79A5-00C1-E761-F3A38894AA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77953DAC-859D-762D-DB59-9518EC4C014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78AA8C94-926D-A8A1-DB2A-CCC9EB52C86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endParaRPr lang="en-US" altLang="zh-CN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E8E04BF-766A-E84F-4220-0E5FB23379F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8214A57-53EC-482F-81B0-F5278A5F20F2}" type="slidenum">
              <a:rPr lang="zh-CN" altLang="en-US" smtClean="0"/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8965088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CC19B8-4ED9-DC8B-2A3D-345E4BC4C7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34043FFD-BE0C-DDE8-3227-05C6357545F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9FB4EDD4-C900-F152-3B82-096381CEB99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endParaRPr lang="en-US" altLang="zh-CN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55D3995-4C93-FECA-C681-77FBAEEEE80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8214A57-53EC-482F-81B0-F5278A5F20F2}" type="slidenum">
              <a:rPr lang="zh-CN" altLang="en-US" smtClean="0"/>
              <a:t>15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2409517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5AF0A2-C169-E59E-567C-815D3FABAD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28C072DF-D0E8-A187-6F94-EB31F096556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992F1890-6F1F-E4B4-84C8-38178171251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endParaRPr lang="en-US" altLang="zh-CN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09359CA-B113-BC85-1978-1D201BA26D7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8214A57-53EC-482F-81B0-F5278A5F20F2}" type="slidenum">
              <a:rPr lang="zh-CN" altLang="en-US" smtClean="0"/>
              <a:t>16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7996446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58468E-4A16-DF73-F036-37EC42F8EC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D3DBA618-FA6D-49C8-054D-CB8736A7275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4904E85A-19C6-35C3-1295-30AC9B42EA1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endParaRPr lang="en-US" altLang="zh-CN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F2D4341-F0DD-41AB-E434-AD203BB09A6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8214A57-53EC-482F-81B0-F5278A5F20F2}" type="slidenum">
              <a:rPr lang="zh-CN" altLang="en-US" smtClean="0"/>
              <a:t>17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0252700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5140A5-2EA7-7C39-60E5-9F9E8D4C8C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A64B16B4-D497-D3CA-5076-5E5BCAA504A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02E0C018-B3DE-FD3A-C718-5A92E6041DC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endParaRPr lang="en-US" altLang="zh-CN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DF3B7E7-96B6-567C-B0B6-D2CF674EB67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8214A57-53EC-482F-81B0-F5278A5F20F2}" type="slidenum">
              <a:rPr lang="zh-CN" altLang="en-US" smtClean="0"/>
              <a:t>18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46260168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93CEDF-4A92-48C9-33AC-C156AAEC96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C75F9F80-A7DF-BA61-0413-05D70FB3E85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438E6FC3-7496-A9E9-4B0E-111922F868B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endParaRPr lang="en-US" altLang="zh-CN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ED83B5D-E53F-35BD-4CF0-10DF6EFA4AE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8214A57-53EC-482F-81B0-F5278A5F20F2}" type="slidenum">
              <a:rPr lang="zh-CN" altLang="en-US" smtClean="0"/>
              <a:t>19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07612018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F8E0C0-31C5-04ED-BA51-8E16201F70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FD746D80-4E4B-CFA5-87C4-C2512A82FEF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B00787F8-7907-67B3-6232-FFD84ED1809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endParaRPr lang="en-US" altLang="zh-CN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0B13390-EC0C-7E87-89C7-E13F486DB25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8214A57-53EC-482F-81B0-F5278A5F20F2}" type="slidenum">
              <a:rPr lang="zh-CN" altLang="en-US" smtClean="0"/>
              <a:t>20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98182518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4572C9-7756-C0E5-A05B-0E6AC34B78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70CAC78C-5D15-E1CD-8C3B-CC981F3EB23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58C0A023-8825-5B9A-9F6D-50A9C3EC651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0670457-C7DA-C957-7BA5-1EA5652AC19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8214A57-53EC-482F-81B0-F5278A5F20F2}" type="slidenum">
              <a:rPr lang="zh-CN" altLang="en-US" smtClean="0"/>
              <a:t>21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5652024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文本框 10"/>
          <p:cNvSpPr txBox="1"/>
          <p:nvPr userDrawn="1"/>
        </p:nvSpPr>
        <p:spPr>
          <a:xfrm>
            <a:off x="8343901" y="6463788"/>
            <a:ext cx="69215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fld id="{4A21B34A-0288-4B92-BD5C-46DBED48DF80}" type="slidenum">
              <a:rPr lang="zh-CN" altLang="en-US" sz="1200" smtClean="0">
                <a:solidFill>
                  <a:schemeClr val="tx2"/>
                </a:solidFill>
              </a:rPr>
              <a:t>‹#›</a:t>
            </a:fld>
            <a:endParaRPr lang="zh-CN" altLang="en-US" sz="1200" dirty="0">
              <a:solidFill>
                <a:schemeClr val="tx2"/>
              </a:solidFill>
            </a:endParaRPr>
          </a:p>
        </p:txBody>
      </p:sp>
      <p:sp>
        <p:nvSpPr>
          <p:cNvPr id="14" name="矩形 13"/>
          <p:cNvSpPr/>
          <p:nvPr userDrawn="1"/>
        </p:nvSpPr>
        <p:spPr>
          <a:xfrm>
            <a:off x="0" y="800101"/>
            <a:ext cx="9144000" cy="231140"/>
          </a:xfrm>
          <a:prstGeom prst="rect">
            <a:avLst/>
          </a:prstGeom>
          <a:gradFill>
            <a:gsLst>
              <a:gs pos="0">
                <a:schemeClr val="bg1">
                  <a:lumMod val="85000"/>
                </a:schemeClr>
              </a:gs>
              <a:gs pos="96000">
                <a:schemeClr val="bg1">
                  <a:lumMod val="95000"/>
                  <a:alpha val="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/>
          </a:p>
        </p:txBody>
      </p:sp>
      <p:cxnSp>
        <p:nvCxnSpPr>
          <p:cNvPr id="15" name="直接连接符 14"/>
          <p:cNvCxnSpPr/>
          <p:nvPr userDrawn="1"/>
        </p:nvCxnSpPr>
        <p:spPr>
          <a:xfrm>
            <a:off x="1031240" y="800100"/>
            <a:ext cx="8119110" cy="0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接连接符 15"/>
          <p:cNvCxnSpPr/>
          <p:nvPr userDrawn="1"/>
        </p:nvCxnSpPr>
        <p:spPr>
          <a:xfrm>
            <a:off x="558802" y="800100"/>
            <a:ext cx="8266430" cy="0"/>
          </a:xfrm>
          <a:prstGeom prst="line">
            <a:avLst/>
          </a:prstGeom>
          <a:ln w="38100" cap="rnd">
            <a:solidFill>
              <a:schemeClr val="accent2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接连接符 16"/>
          <p:cNvCxnSpPr/>
          <p:nvPr userDrawn="1"/>
        </p:nvCxnSpPr>
        <p:spPr>
          <a:xfrm>
            <a:off x="60960" y="800100"/>
            <a:ext cx="401320" cy="0"/>
          </a:xfrm>
          <a:prstGeom prst="line">
            <a:avLst/>
          </a:prstGeom>
          <a:ln w="38100" cap="rnd">
            <a:solidFill>
              <a:schemeClr val="accent4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接连接符 17"/>
          <p:cNvCxnSpPr/>
          <p:nvPr userDrawn="1"/>
        </p:nvCxnSpPr>
        <p:spPr>
          <a:xfrm>
            <a:off x="0" y="800100"/>
            <a:ext cx="355600" cy="0"/>
          </a:xfrm>
          <a:prstGeom prst="line">
            <a:avLst/>
          </a:prstGeom>
          <a:ln w="38100" cap="flat">
            <a:solidFill>
              <a:schemeClr val="accent4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内容占位符 6" hidden="1"/>
          <p:cNvSpPr>
            <a:spLocks noGrp="1"/>
          </p:cNvSpPr>
          <p:nvPr>
            <p:ph sz="quarter" idx="10" hasCustomPrompt="1"/>
          </p:nvPr>
        </p:nvSpPr>
        <p:spPr>
          <a:xfrm>
            <a:off x="431802" y="277614"/>
            <a:ext cx="2851150" cy="452432"/>
          </a:xfrm>
          <a:noFill/>
        </p:spPr>
        <p:txBody>
          <a:bodyPr wrap="square">
            <a:spAutoFit/>
          </a:bodyPr>
          <a:lstStyle>
            <a:lvl1pPr marL="0" indent="0">
              <a:buNone/>
              <a:defRPr lang="zh-CN" altLang="en-US" sz="2600" b="1" dirty="0" smtClean="0">
                <a:solidFill>
                  <a:schemeClr val="accent2"/>
                </a:solidFill>
              </a:defRPr>
            </a:lvl1pPr>
          </a:lstStyle>
          <a:p>
            <a:pPr marL="0" lvl="0" defTabSz="457200"/>
            <a:r>
              <a:rPr lang="zh-CN" altLang="en-US" dirty="0"/>
              <a:t>编辑母版标题样式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文本框 8"/>
          <p:cNvSpPr txBox="1"/>
          <p:nvPr userDrawn="1"/>
        </p:nvSpPr>
        <p:spPr>
          <a:xfrm>
            <a:off x="8343901" y="6463788"/>
            <a:ext cx="69215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fld id="{4A21B34A-0288-4B92-BD5C-46DBED48DF80}" type="slidenum">
              <a:rPr lang="zh-CN" altLang="en-US" sz="1200" smtClean="0">
                <a:solidFill>
                  <a:schemeClr val="tx2"/>
                </a:solidFill>
              </a:rPr>
              <a:t>‹#›</a:t>
            </a:fld>
            <a:endParaRPr lang="zh-CN" altLang="en-US" sz="1200" dirty="0">
              <a:solidFill>
                <a:schemeClr val="tx2"/>
              </a:solidFill>
            </a:endParaRPr>
          </a:p>
        </p:txBody>
      </p:sp>
      <p:sp>
        <p:nvSpPr>
          <p:cNvPr id="7" name="矩形 6"/>
          <p:cNvSpPr/>
          <p:nvPr userDrawn="1"/>
        </p:nvSpPr>
        <p:spPr>
          <a:xfrm>
            <a:off x="0" y="800101"/>
            <a:ext cx="9144000" cy="231140"/>
          </a:xfrm>
          <a:prstGeom prst="rect">
            <a:avLst/>
          </a:prstGeom>
          <a:gradFill>
            <a:gsLst>
              <a:gs pos="0">
                <a:schemeClr val="bg1">
                  <a:lumMod val="85000"/>
                </a:schemeClr>
              </a:gs>
              <a:gs pos="96000">
                <a:schemeClr val="bg1">
                  <a:lumMod val="95000"/>
                  <a:alpha val="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/>
          </a:p>
        </p:txBody>
      </p:sp>
      <p:cxnSp>
        <p:nvCxnSpPr>
          <p:cNvPr id="8" name="直接连接符 7"/>
          <p:cNvCxnSpPr/>
          <p:nvPr userDrawn="1"/>
        </p:nvCxnSpPr>
        <p:spPr>
          <a:xfrm>
            <a:off x="1031240" y="800100"/>
            <a:ext cx="8119110" cy="0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/>
          <p:cNvCxnSpPr/>
          <p:nvPr userDrawn="1"/>
        </p:nvCxnSpPr>
        <p:spPr>
          <a:xfrm>
            <a:off x="558802" y="800100"/>
            <a:ext cx="8266430" cy="0"/>
          </a:xfrm>
          <a:prstGeom prst="line">
            <a:avLst/>
          </a:prstGeom>
          <a:ln w="38100" cap="rnd">
            <a:solidFill>
              <a:schemeClr val="accent2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/>
          <p:cNvCxnSpPr/>
          <p:nvPr userDrawn="1"/>
        </p:nvCxnSpPr>
        <p:spPr>
          <a:xfrm>
            <a:off x="60960" y="800100"/>
            <a:ext cx="401320" cy="0"/>
          </a:xfrm>
          <a:prstGeom prst="line">
            <a:avLst/>
          </a:prstGeom>
          <a:ln w="38100" cap="rnd">
            <a:solidFill>
              <a:schemeClr val="accent4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接连接符 15"/>
          <p:cNvCxnSpPr/>
          <p:nvPr userDrawn="1"/>
        </p:nvCxnSpPr>
        <p:spPr>
          <a:xfrm>
            <a:off x="0" y="800100"/>
            <a:ext cx="355600" cy="0"/>
          </a:xfrm>
          <a:prstGeom prst="line">
            <a:avLst/>
          </a:prstGeom>
          <a:ln w="38100" cap="flat">
            <a:solidFill>
              <a:schemeClr val="accent4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2E16F2-408D-455E-AA89-E0A8DC49B5E3}" type="datetimeFigureOut">
              <a:rPr lang="zh-CN" altLang="en-US" smtClean="0"/>
              <a:t>2025/12/3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21B34A-0288-4B92-BD5C-46DBED48DF80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9"/>
            <a:ext cx="78867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2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2" y="2505075"/>
            <a:ext cx="3887391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2E16F2-408D-455E-AA89-E0A8DC49B5E3}" type="datetimeFigureOut">
              <a:rPr lang="zh-CN" altLang="en-US" smtClean="0"/>
              <a:t>2025/12/3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21B34A-0288-4B92-BD5C-46DBED48DF80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2E16F2-408D-455E-AA89-E0A8DC49B5E3}" type="datetimeFigureOut">
              <a:rPr lang="zh-CN" altLang="en-US" smtClean="0"/>
              <a:t>2025/12/3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21B34A-0288-4B92-BD5C-46DBED48DF80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2E16F2-408D-455E-AA89-E0A8DC49B5E3}" type="datetimeFigureOut">
              <a:rPr lang="zh-CN" altLang="en-US" smtClean="0"/>
              <a:t>2025/12/3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21B34A-0288-4B92-BD5C-46DBED48DF80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30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2E16F2-408D-455E-AA89-E0A8DC49B5E3}" type="datetimeFigureOut">
              <a:rPr lang="zh-CN" altLang="en-US" smtClean="0"/>
              <a:t>2025/12/3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21B34A-0288-4B92-BD5C-46DBED48DF80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30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2E16F2-408D-455E-AA89-E0A8DC49B5E3}" type="datetimeFigureOut">
              <a:rPr lang="zh-CN" altLang="en-US" smtClean="0"/>
              <a:t>2025/12/3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21B34A-0288-4B92-BD5C-46DBED48DF80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2E16F2-408D-455E-AA89-E0A8DC49B5E3}" type="datetimeFigureOut">
              <a:rPr lang="zh-CN" altLang="en-US" smtClean="0"/>
              <a:t>2025/12/3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21B34A-0288-4B92-BD5C-46DBED48DF80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6" y="365125"/>
            <a:ext cx="1971675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2" y="365125"/>
            <a:ext cx="5800725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2E16F2-408D-455E-AA89-E0A8DC49B5E3}" type="datetimeFigureOut">
              <a:rPr lang="zh-CN" altLang="en-US" smtClean="0"/>
              <a:t>2025/12/3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21B34A-0288-4B92-BD5C-46DBED48DF80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封面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/>
        </p:nvSpPr>
        <p:spPr>
          <a:xfrm>
            <a:off x="0" y="1487564"/>
            <a:ext cx="9144000" cy="2299581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sz="180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9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5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82E16F2-408D-455E-AA89-E0A8DC49B5E3}" type="datetimeFigureOut">
              <a:rPr lang="zh-CN" altLang="en-US" smtClean="0"/>
              <a:t>2025/12/3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5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5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21B34A-0288-4B92-BD5C-46DBED48DF80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2.xml"/><Relationship Id="rId7" Type="http://schemas.openxmlformats.org/officeDocument/2006/relationships/image" Target="../media/image2.png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6" Type="http://schemas.openxmlformats.org/officeDocument/2006/relationships/image" Target="../media/image1.emf"/><Relationship Id="rId5" Type="http://schemas.openxmlformats.org/officeDocument/2006/relationships/oleObject" Target="../embeddings/oleObject1.bin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image" Target="../media/image2.png"/><Relationship Id="rId7" Type="http://schemas.openxmlformats.org/officeDocument/2006/relationships/image" Target="../media/image2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Relationship Id="rId9" Type="http://schemas.openxmlformats.org/officeDocument/2006/relationships/image" Target="../media/image23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16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image" Target="../media/image2.png"/><Relationship Id="rId7" Type="http://schemas.openxmlformats.org/officeDocument/2006/relationships/image" Target="../media/image29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26.png"/><Relationship Id="rId9" Type="http://schemas.openxmlformats.org/officeDocument/2006/relationships/image" Target="../media/image23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4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对象 4" hidden="1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-1522411" y="1589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5" imgW="0" imgH="0" progId="TCLayout.ActiveDocument.1">
                  <p:embed/>
                </p:oleObj>
              </mc:Choice>
              <mc:Fallback>
                <p:oleObj name="think-cell 幻灯片" r:id="rId5" imgW="0" imgH="0" progId="TCLayout.ActiveDocument.1">
                  <p:embed/>
                  <p:pic>
                    <p:nvPicPr>
                      <p:cNvPr id="5" name="对象 4" hidden="1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-1522411" y="1589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矩形 3" hidden="1"/>
          <p:cNvSpPr/>
          <p:nvPr>
            <p:custDataLst>
              <p:tags r:id="rId2"/>
            </p:custDataLst>
          </p:nvPr>
        </p:nvSpPr>
        <p:spPr>
          <a:xfrm>
            <a:off x="-1524000" y="0"/>
            <a:ext cx="158750" cy="1587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HK" altLang="en-US" sz="14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等线" panose="02010600030101010101" pitchFamily="2" charset="-122"/>
              <a:ea typeface="PMingLiU" panose="02020500000000000000" pitchFamily="18" charset="-120"/>
              <a:cs typeface="+mn-cs"/>
              <a:sym typeface="等线" panose="02010600030101010101" pitchFamily="2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88707" y="1874183"/>
            <a:ext cx="8766573" cy="31096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25000"/>
              </a:lnSpc>
              <a:defRPr/>
            </a:pPr>
            <a:r>
              <a:rPr lang="en-US" altLang="zh-CN" sz="3200" b="1" dirty="0">
                <a:solidFill>
                  <a:srgbClr val="FFFFFF"/>
                </a:solidFill>
                <a:latin typeface="Arial" panose="020B0604020202020204"/>
                <a:ea typeface="微软雅黑"/>
              </a:rPr>
              <a:t>Lecture 13: The Emergence of Altruism in Large-Language-Model Agents Society</a:t>
            </a:r>
          </a:p>
          <a:p>
            <a:pPr algn="ctr">
              <a:lnSpc>
                <a:spcPct val="125000"/>
              </a:lnSpc>
              <a:defRPr/>
            </a:pPr>
            <a:br>
              <a:rPr lang="en-US" altLang="zh-CN" sz="3200" b="1" dirty="0">
                <a:solidFill>
                  <a:srgbClr val="FFFFFF"/>
                </a:solidFill>
                <a:latin typeface="Arial" panose="020B0604020202020204"/>
                <a:ea typeface="微软雅黑"/>
              </a:rPr>
            </a:br>
            <a:endParaRPr lang="en-US" altLang="zh-CN" sz="3200" b="1" dirty="0">
              <a:solidFill>
                <a:srgbClr val="FFFFFF"/>
              </a:solidFill>
              <a:latin typeface="Arial" panose="020B0604020202020204"/>
              <a:ea typeface="微软雅黑"/>
            </a:endParaRPr>
          </a:p>
          <a:p>
            <a:pPr algn="ctr">
              <a:lnSpc>
                <a:spcPct val="125000"/>
              </a:lnSpc>
              <a:defRPr/>
            </a:pPr>
            <a:endParaRPr kumimoji="0" lang="en-US" altLang="zh-CN" sz="32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微软雅黑"/>
              <a:cs typeface="+mn-cs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97483CF7-62BC-9BA6-9E1F-42094F179995}"/>
              </a:ext>
            </a:extLst>
          </p:cNvPr>
          <p:cNvSpPr txBox="1"/>
          <p:nvPr/>
        </p:nvSpPr>
        <p:spPr>
          <a:xfrm>
            <a:off x="640734" y="4605912"/>
            <a:ext cx="786251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b="1" dirty="0"/>
              <a:t>Zhanzhan Zhao</a:t>
            </a:r>
          </a:p>
        </p:txBody>
      </p:sp>
      <p:pic>
        <p:nvPicPr>
          <p:cNvPr id="1026" name="Picture 2" descr="Home | CUHK-Shenzhen">
            <a:extLst>
              <a:ext uri="{FF2B5EF4-FFF2-40B4-BE49-F238E27FC236}">
                <a16:creationId xmlns:a16="http://schemas.microsoft.com/office/drawing/2014/main" id="{75CE61F3-E651-EAA5-5EA4-70D74B3C552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98059" y="375327"/>
            <a:ext cx="4547870" cy="6524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E4DC52-AA70-29E4-4802-B68EA3FECC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A8BB093B-B48B-127F-87F7-D3D8EC01EABD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261114" y="167886"/>
            <a:ext cx="6590790" cy="480131"/>
          </a:xfrm>
        </p:spPr>
        <p:txBody>
          <a:bodyPr/>
          <a:lstStyle/>
          <a:p>
            <a:r>
              <a:rPr lang="en-US" altLang="zh-CN" sz="2800" dirty="0"/>
              <a:t>Background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EB21E6F5-6561-9B2C-3640-139D5A4F960B}"/>
              </a:ext>
            </a:extLst>
          </p:cNvPr>
          <p:cNvSpPr txBox="1"/>
          <p:nvPr/>
        </p:nvSpPr>
        <p:spPr>
          <a:xfrm>
            <a:off x="261114" y="1010447"/>
            <a:ext cx="726366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000" b="1" i="1" dirty="0">
                <a:solidFill>
                  <a:srgbClr val="082E72"/>
                </a:solidFill>
              </a:rPr>
              <a:t>LLM for Social Simulation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3366225-C806-5888-7CCB-A651A1909528}"/>
              </a:ext>
            </a:extLst>
          </p:cNvPr>
          <p:cNvSpPr txBox="1"/>
          <p:nvPr/>
        </p:nvSpPr>
        <p:spPr>
          <a:xfrm>
            <a:off x="282719" y="1460591"/>
            <a:ext cx="8578557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" altLang="zh-CN" dirty="0"/>
              <a:t>LLMs are increasingly used for </a:t>
            </a:r>
            <a:r>
              <a:rPr lang="en" altLang="zh-CN" b="1" dirty="0"/>
              <a:t>Agent-Based Modeling (ABM) </a:t>
            </a:r>
            <a:r>
              <a:rPr lang="en" altLang="zh-CN" dirty="0"/>
              <a:t>in urban computing, economics, and sociology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" altLang="zh-CN" b="1" dirty="0"/>
              <a:t>Key Advantage</a:t>
            </a:r>
            <a:r>
              <a:rPr lang="en" altLang="zh-CN" dirty="0"/>
              <a:t>: Anthropomorphic reasoning and role-playing capabilities.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" altLang="zh-CN" dirty="0"/>
              <a:t>Human-like reasoning reasoning and decision making process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" altLang="zh-CN" dirty="0"/>
              <a:t>Training-free, No need to rely on a large amount of historical data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" altLang="zh-CN" b="1" dirty="0"/>
              <a:t>Famous Work</a:t>
            </a:r>
            <a:endParaRPr lang="en-US" altLang="zh-CN" b="1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zh-CN" dirty="0"/>
              <a:t>Generative Agents (J.S. Park, 2023, </a:t>
            </a:r>
            <a:r>
              <a:rPr lang="en-US" altLang="zh-CN" b="1" dirty="0">
                <a:solidFill>
                  <a:schemeClr val="accent4"/>
                </a:solidFill>
              </a:rPr>
              <a:t>The first work</a:t>
            </a:r>
            <a:r>
              <a:rPr lang="en-US" altLang="zh-CN" dirty="0"/>
              <a:t> introduce LLM Agent)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zh-CN" dirty="0" err="1"/>
              <a:t>AgentSociety</a:t>
            </a:r>
            <a:r>
              <a:rPr lang="en-US" altLang="zh-CN" dirty="0"/>
              <a:t> (THU, 2025, Support </a:t>
            </a:r>
            <a:r>
              <a:rPr lang="en-US" altLang="zh-CN" b="1" dirty="0">
                <a:solidFill>
                  <a:schemeClr val="accent4"/>
                </a:solidFill>
              </a:rPr>
              <a:t>10k+ LLM agents </a:t>
            </a:r>
            <a:r>
              <a:rPr lang="en-US" altLang="zh-CN" dirty="0"/>
              <a:t>for social simulation)</a:t>
            </a:r>
            <a:endParaRPr lang="zh-CN" altLang="zh-CN" b="1" dirty="0"/>
          </a:p>
        </p:txBody>
      </p:sp>
      <p:pic>
        <p:nvPicPr>
          <p:cNvPr id="3" name="Picture 2" descr="Home | CUHK-Shenzhen">
            <a:extLst>
              <a:ext uri="{FF2B5EF4-FFF2-40B4-BE49-F238E27FC236}">
                <a16:creationId xmlns:a16="http://schemas.microsoft.com/office/drawing/2014/main" id="{CCC2F7C2-4ADA-F2F6-FDE3-77393679A4B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34349" y="167886"/>
            <a:ext cx="3048537" cy="4373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BEE89BCB-4D46-85BF-3C0D-88D22BBFA16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2648" y="3957307"/>
            <a:ext cx="3288792" cy="2732807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9A0F36F0-959E-5301-3246-3D366F62DC9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89832" y="3957307"/>
            <a:ext cx="4751832" cy="24029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871945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5DF711-9D06-AF75-A52F-7712711981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DA444FD7-0DCB-CF73-F0B1-0DD9CAD58B48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261114" y="167886"/>
            <a:ext cx="6590790" cy="480131"/>
          </a:xfrm>
        </p:spPr>
        <p:txBody>
          <a:bodyPr/>
          <a:lstStyle/>
          <a:p>
            <a:r>
              <a:rPr lang="en-US" altLang="zh-CN" sz="2800" dirty="0"/>
              <a:t>Background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7F59FD11-8C8F-208D-8B2B-9A066CB39C5B}"/>
              </a:ext>
            </a:extLst>
          </p:cNvPr>
          <p:cNvSpPr txBox="1"/>
          <p:nvPr/>
        </p:nvSpPr>
        <p:spPr>
          <a:xfrm>
            <a:off x="261114" y="1010447"/>
            <a:ext cx="726366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000" b="1" i="1" dirty="0">
                <a:solidFill>
                  <a:srgbClr val="082E72"/>
                </a:solidFill>
              </a:rPr>
              <a:t>LLM for Social Simulation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59E7B9DD-FE31-CD82-EE35-AC430A6E1390}"/>
              </a:ext>
            </a:extLst>
          </p:cNvPr>
          <p:cNvSpPr txBox="1"/>
          <p:nvPr/>
        </p:nvSpPr>
        <p:spPr>
          <a:xfrm>
            <a:off x="282719" y="1460591"/>
            <a:ext cx="8578557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/>
              <a:t>Why LLM Agent effective in Social Simulation?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" altLang="zh-CN" dirty="0"/>
              <a:t>Human-like thinking process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" altLang="zh-CN" dirty="0"/>
              <a:t>Excellent role-playing ability (LLM agent can have an </a:t>
            </a:r>
            <a:r>
              <a:rPr lang="en" altLang="zh-CN" b="1" dirty="0">
                <a:solidFill>
                  <a:schemeClr val="accent4"/>
                </a:solidFill>
              </a:rPr>
              <a:t>individualized profile</a:t>
            </a:r>
            <a:r>
              <a:rPr lang="en" altLang="zh-CN" dirty="0"/>
              <a:t>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" altLang="zh-CN" dirty="0"/>
              <a:t>Advances in LLMs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" altLang="zh-CN" b="1" dirty="0">
                <a:solidFill>
                  <a:schemeClr val="accent4"/>
                </a:solidFill>
              </a:rPr>
              <a:t>Interpretability</a:t>
            </a:r>
            <a:endParaRPr lang="en-US" altLang="zh-CN" b="1" dirty="0">
              <a:solidFill>
                <a:schemeClr val="accent4"/>
              </a:solidFill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" altLang="zh-CN" dirty="0"/>
              <a:t>Traditional rule-based ABMs typically consist of hard-coded formulas, resulting in very poor interpretability</a:t>
            </a:r>
          </a:p>
        </p:txBody>
      </p:sp>
      <p:pic>
        <p:nvPicPr>
          <p:cNvPr id="3" name="Picture 2" descr="Home | CUHK-Shenzhen">
            <a:extLst>
              <a:ext uri="{FF2B5EF4-FFF2-40B4-BE49-F238E27FC236}">
                <a16:creationId xmlns:a16="http://schemas.microsoft.com/office/drawing/2014/main" id="{902AEC98-9F57-3983-9E6F-0D4B8E5BB2A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34349" y="167886"/>
            <a:ext cx="3048537" cy="4373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32CDB2C9-0FDC-09E2-8263-DCCAF282FFCA}"/>
              </a:ext>
            </a:extLst>
          </p:cNvPr>
          <p:cNvSpPr txBox="1"/>
          <p:nvPr/>
        </p:nvSpPr>
        <p:spPr>
          <a:xfrm>
            <a:off x="282719" y="3541950"/>
            <a:ext cx="726366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000" b="1" i="1" dirty="0">
                <a:solidFill>
                  <a:srgbClr val="082E72"/>
                </a:solidFill>
              </a:rPr>
              <a:t>Simulating Human Society -&gt; Society of LLMs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4E2F1F5D-CC86-607E-B555-FD19BF30F5AB}"/>
              </a:ext>
            </a:extLst>
          </p:cNvPr>
          <p:cNvSpPr txBox="1"/>
          <p:nvPr/>
        </p:nvSpPr>
        <p:spPr>
          <a:xfrm>
            <a:off x="304329" y="3992094"/>
            <a:ext cx="8578557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" altLang="zh-CN" dirty="0"/>
              <a:t>Beyond replicating human behaviors, what are the </a:t>
            </a:r>
            <a:r>
              <a:rPr lang="en" altLang="zh-CN" b="1" dirty="0"/>
              <a:t>intrinsic social tendencies</a:t>
            </a:r>
            <a:r>
              <a:rPr lang="en" altLang="zh-CN" dirty="0"/>
              <a:t> of these models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" altLang="zh-CN" dirty="0"/>
              <a:t>That is, beyond simulating human society,</a:t>
            </a:r>
            <a:r>
              <a:rPr lang="zh-CN" altLang="en-US" dirty="0"/>
              <a:t> </a:t>
            </a:r>
            <a:r>
              <a:rPr lang="en" altLang="zh-CN" dirty="0"/>
              <a:t>what is a society </a:t>
            </a:r>
            <a:r>
              <a:rPr lang="en" altLang="zh-CN" b="1" dirty="0"/>
              <a:t>purely composed of LLMs</a:t>
            </a:r>
            <a:r>
              <a:rPr lang="en" altLang="zh-CN" dirty="0"/>
              <a:t> like?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" altLang="zh-CN" b="1" dirty="0"/>
              <a:t>Do they default to </a:t>
            </a:r>
            <a:r>
              <a:rPr lang="en" altLang="zh-CN" b="1" dirty="0">
                <a:solidFill>
                  <a:schemeClr val="accent4"/>
                </a:solidFill>
              </a:rPr>
              <a:t>Homo Economicus (Perfect Rationality/Egoism) </a:t>
            </a:r>
            <a:r>
              <a:rPr lang="en" altLang="zh-CN" b="1" dirty="0"/>
              <a:t>or do they exhibit </a:t>
            </a:r>
            <a:r>
              <a:rPr lang="en" altLang="zh-CN" b="1" dirty="0">
                <a:solidFill>
                  <a:schemeClr val="accent4"/>
                </a:solidFill>
              </a:rPr>
              <a:t>Bounded Rationality/Altruism</a:t>
            </a:r>
            <a:r>
              <a:rPr lang="en" altLang="zh-CN" b="1" dirty="0"/>
              <a:t>?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" altLang="zh-CN" dirty="0"/>
              <a:t>Evaluating society of LLMs is of </a:t>
            </a:r>
            <a:r>
              <a:rPr lang="en" altLang="zh-CN" b="1" dirty="0"/>
              <a:t>great reference value </a:t>
            </a:r>
            <a:r>
              <a:rPr lang="en" altLang="zh-CN" dirty="0"/>
              <a:t>for our subsequent LLM agent-driven social simulations.</a:t>
            </a:r>
          </a:p>
        </p:txBody>
      </p:sp>
    </p:spTree>
    <p:extLst>
      <p:ext uri="{BB962C8B-B14F-4D97-AF65-F5344CB8AC3E}">
        <p14:creationId xmlns:p14="http://schemas.microsoft.com/office/powerpoint/2010/main" val="291822386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D6CB16-C17E-EEDD-5211-1983528AA2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D6F58070-BF62-4F3F-1781-9CEAA9F11E63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261114" y="167886"/>
            <a:ext cx="6590790" cy="480131"/>
          </a:xfrm>
        </p:spPr>
        <p:txBody>
          <a:bodyPr/>
          <a:lstStyle/>
          <a:p>
            <a:r>
              <a:rPr lang="en-US" altLang="zh-CN" sz="2800" dirty="0"/>
              <a:t>Background</a:t>
            </a:r>
          </a:p>
        </p:txBody>
      </p:sp>
      <p:pic>
        <p:nvPicPr>
          <p:cNvPr id="3" name="Picture 2" descr="Home | CUHK-Shenzhen">
            <a:extLst>
              <a:ext uri="{FF2B5EF4-FFF2-40B4-BE49-F238E27FC236}">
                <a16:creationId xmlns:a16="http://schemas.microsoft.com/office/drawing/2014/main" id="{93774241-88AF-42E0-4420-CA63B2AAB57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34349" y="167886"/>
            <a:ext cx="3048537" cy="4373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圆角矩形 3">
            <a:extLst>
              <a:ext uri="{FF2B5EF4-FFF2-40B4-BE49-F238E27FC236}">
                <a16:creationId xmlns:a16="http://schemas.microsoft.com/office/drawing/2014/main" id="{D0713632-F2A8-EA9D-0486-CA5155C38D47}"/>
              </a:ext>
            </a:extLst>
          </p:cNvPr>
          <p:cNvSpPr/>
          <p:nvPr/>
        </p:nvSpPr>
        <p:spPr>
          <a:xfrm>
            <a:off x="2479943" y="1078964"/>
            <a:ext cx="2749971" cy="900006"/>
          </a:xfrm>
          <a:prstGeom prst="roundRect">
            <a:avLst/>
          </a:prstGeom>
          <a:solidFill>
            <a:srgbClr val="082D7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2400" dirty="0"/>
              <a:t>LLM Agents for Social Simulation</a:t>
            </a:r>
            <a:endParaRPr kumimoji="1" lang="zh-CN" altLang="en-US" sz="2400" dirty="0"/>
          </a:p>
        </p:txBody>
      </p:sp>
      <p:pic>
        <p:nvPicPr>
          <p:cNvPr id="5" name="图形 4">
            <a:extLst>
              <a:ext uri="{FF2B5EF4-FFF2-40B4-BE49-F238E27FC236}">
                <a16:creationId xmlns:a16="http://schemas.microsoft.com/office/drawing/2014/main" id="{62C781DD-51F2-9037-6EB0-CF082918F8B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479943" y="2408646"/>
            <a:ext cx="769848" cy="769848"/>
          </a:xfrm>
          <a:prstGeom prst="rect">
            <a:avLst/>
          </a:prstGeom>
        </p:spPr>
      </p:pic>
      <p:sp>
        <p:nvSpPr>
          <p:cNvPr id="8" name="左大括号 7">
            <a:extLst>
              <a:ext uri="{FF2B5EF4-FFF2-40B4-BE49-F238E27FC236}">
                <a16:creationId xmlns:a16="http://schemas.microsoft.com/office/drawing/2014/main" id="{5988BA7B-BCEF-8338-68AA-E06E955F06D8}"/>
              </a:ext>
            </a:extLst>
          </p:cNvPr>
          <p:cNvSpPr/>
          <p:nvPr/>
        </p:nvSpPr>
        <p:spPr>
          <a:xfrm>
            <a:off x="3366307" y="2408647"/>
            <a:ext cx="393218" cy="1981384"/>
          </a:xfrm>
          <a:prstGeom prst="leftBrace">
            <a:avLst>
              <a:gd name="adj1" fmla="val 8333"/>
              <a:gd name="adj2" fmla="val 9165"/>
            </a:avLst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9" name="圆角矩形 8">
            <a:extLst>
              <a:ext uri="{FF2B5EF4-FFF2-40B4-BE49-F238E27FC236}">
                <a16:creationId xmlns:a16="http://schemas.microsoft.com/office/drawing/2014/main" id="{B0E8DF04-D522-FD9A-B883-9799531F44EC}"/>
              </a:ext>
            </a:extLst>
          </p:cNvPr>
          <p:cNvSpPr/>
          <p:nvPr/>
        </p:nvSpPr>
        <p:spPr>
          <a:xfrm>
            <a:off x="3968955" y="2277768"/>
            <a:ext cx="1353872" cy="574896"/>
          </a:xfrm>
          <a:prstGeom prst="roundRect">
            <a:avLst/>
          </a:prstGeom>
          <a:solidFill>
            <a:srgbClr val="082D7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/>
              <a:t>Profile</a:t>
            </a:r>
            <a:endParaRPr kumimoji="1" lang="zh-CN" altLang="en-US" dirty="0"/>
          </a:p>
        </p:txBody>
      </p:sp>
      <p:sp>
        <p:nvSpPr>
          <p:cNvPr id="10" name="圆角矩形 9">
            <a:extLst>
              <a:ext uri="{FF2B5EF4-FFF2-40B4-BE49-F238E27FC236}">
                <a16:creationId xmlns:a16="http://schemas.microsoft.com/office/drawing/2014/main" id="{AC9833E7-A57B-F010-C042-50371E9761AE}"/>
              </a:ext>
            </a:extLst>
          </p:cNvPr>
          <p:cNvSpPr/>
          <p:nvPr/>
        </p:nvSpPr>
        <p:spPr>
          <a:xfrm>
            <a:off x="3965401" y="3045347"/>
            <a:ext cx="1353872" cy="576000"/>
          </a:xfrm>
          <a:prstGeom prst="roundRect">
            <a:avLst/>
          </a:prstGeom>
          <a:solidFill>
            <a:srgbClr val="082D7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/>
              <a:t>Memory</a:t>
            </a:r>
            <a:endParaRPr kumimoji="1" lang="zh-CN" altLang="en-US" dirty="0"/>
          </a:p>
        </p:txBody>
      </p:sp>
      <p:sp>
        <p:nvSpPr>
          <p:cNvPr id="11" name="圆角矩形 10">
            <a:extLst>
              <a:ext uri="{FF2B5EF4-FFF2-40B4-BE49-F238E27FC236}">
                <a16:creationId xmlns:a16="http://schemas.microsoft.com/office/drawing/2014/main" id="{3E373203-94E3-78D9-C364-75C24BD590C7}"/>
              </a:ext>
            </a:extLst>
          </p:cNvPr>
          <p:cNvSpPr/>
          <p:nvPr/>
        </p:nvSpPr>
        <p:spPr>
          <a:xfrm>
            <a:off x="3965401" y="3814030"/>
            <a:ext cx="1353872" cy="576000"/>
          </a:xfrm>
          <a:prstGeom prst="roundRect">
            <a:avLst/>
          </a:prstGeom>
          <a:solidFill>
            <a:srgbClr val="082D7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/>
              <a:t>Planning</a:t>
            </a:r>
            <a:endParaRPr kumimoji="1" lang="zh-CN" altLang="en-US" dirty="0"/>
          </a:p>
        </p:txBody>
      </p:sp>
      <p:sp>
        <p:nvSpPr>
          <p:cNvPr id="14" name="圆角矩形 13">
            <a:extLst>
              <a:ext uri="{FF2B5EF4-FFF2-40B4-BE49-F238E27FC236}">
                <a16:creationId xmlns:a16="http://schemas.microsoft.com/office/drawing/2014/main" id="{EEF7A1C8-99AC-7EE1-29CC-C2424D53EF0C}"/>
              </a:ext>
            </a:extLst>
          </p:cNvPr>
          <p:cNvSpPr/>
          <p:nvPr/>
        </p:nvSpPr>
        <p:spPr>
          <a:xfrm>
            <a:off x="217516" y="2433341"/>
            <a:ext cx="1994739" cy="900006"/>
          </a:xfrm>
          <a:prstGeom prst="roundRect">
            <a:avLst/>
          </a:prstGeom>
          <a:solidFill>
            <a:srgbClr val="082D7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2400" dirty="0"/>
              <a:t>LLM-driven agents</a:t>
            </a:r>
            <a:endParaRPr kumimoji="1" lang="zh-CN" altLang="en-US" sz="2400" dirty="0"/>
          </a:p>
        </p:txBody>
      </p:sp>
      <p:sp>
        <p:nvSpPr>
          <p:cNvPr id="16" name="圆角矩形 15">
            <a:extLst>
              <a:ext uri="{FF2B5EF4-FFF2-40B4-BE49-F238E27FC236}">
                <a16:creationId xmlns:a16="http://schemas.microsoft.com/office/drawing/2014/main" id="{11B4F258-2CC3-8AC2-9950-DCF3A8B96F55}"/>
              </a:ext>
            </a:extLst>
          </p:cNvPr>
          <p:cNvSpPr/>
          <p:nvPr/>
        </p:nvSpPr>
        <p:spPr>
          <a:xfrm>
            <a:off x="899496" y="5057310"/>
            <a:ext cx="7485681" cy="1211537"/>
          </a:xfrm>
          <a:prstGeom prst="roundRect">
            <a:avLst/>
          </a:pr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2400" b="1" dirty="0">
                <a:solidFill>
                  <a:schemeClr val="accent4"/>
                </a:solidFill>
              </a:rPr>
              <a:t>Now, our goal is to </a:t>
            </a:r>
            <a:r>
              <a:rPr kumimoji="1" lang="en-US" altLang="zh-CN" sz="2400" b="1" dirty="0">
                <a:solidFill>
                  <a:schemeClr val="accent4"/>
                </a:solidFill>
                <a:highlight>
                  <a:srgbClr val="FFFF00"/>
                </a:highlight>
              </a:rPr>
              <a:t>remove the real-world societal setup</a:t>
            </a:r>
            <a:r>
              <a:rPr kumimoji="1" lang="en-US" altLang="zh-CN" sz="2400" b="1" dirty="0">
                <a:solidFill>
                  <a:schemeClr val="accent4"/>
                </a:solidFill>
              </a:rPr>
              <a:t> and observe only </a:t>
            </a:r>
            <a:r>
              <a:rPr kumimoji="1" lang="en-US" altLang="zh-CN" sz="2400" b="1" dirty="0">
                <a:solidFill>
                  <a:schemeClr val="accent4"/>
                </a:solidFill>
                <a:highlight>
                  <a:srgbClr val="FFFF00"/>
                </a:highlight>
              </a:rPr>
              <a:t>the nature of LLMs</a:t>
            </a:r>
            <a:r>
              <a:rPr kumimoji="1" lang="en-US" altLang="zh-CN" sz="2400" b="1" dirty="0">
                <a:solidFill>
                  <a:schemeClr val="accent4"/>
                </a:solidFill>
              </a:rPr>
              <a:t> within a pure LLM Society.</a:t>
            </a:r>
            <a:endParaRPr kumimoji="1" lang="zh-CN" altLang="en-US" sz="2400" b="1" dirty="0">
              <a:solidFill>
                <a:schemeClr val="accent4"/>
              </a:solidFill>
            </a:endParaRPr>
          </a:p>
        </p:txBody>
      </p:sp>
      <p:sp>
        <p:nvSpPr>
          <p:cNvPr id="17" name="圆角矩形 16">
            <a:extLst>
              <a:ext uri="{FF2B5EF4-FFF2-40B4-BE49-F238E27FC236}">
                <a16:creationId xmlns:a16="http://schemas.microsoft.com/office/drawing/2014/main" id="{8A98E254-2085-3457-2629-FC94237E1EB9}"/>
              </a:ext>
            </a:extLst>
          </p:cNvPr>
          <p:cNvSpPr/>
          <p:nvPr/>
        </p:nvSpPr>
        <p:spPr>
          <a:xfrm>
            <a:off x="5834349" y="1053479"/>
            <a:ext cx="2954325" cy="2257482"/>
          </a:xfrm>
          <a:prstGeom prst="roundRect">
            <a:avLst/>
          </a:pr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>
                <a:solidFill>
                  <a:srgbClr val="072C72"/>
                </a:solidFill>
              </a:rPr>
              <a:t>Traditionally, we've used LLM agents to </a:t>
            </a:r>
            <a:r>
              <a:rPr kumimoji="1" lang="en-US" altLang="zh-CN" b="1" dirty="0">
                <a:solidFill>
                  <a:srgbClr val="072C72"/>
                </a:solidFill>
              </a:rPr>
              <a:t>simulate societies and observe their behavior, </a:t>
            </a:r>
            <a:r>
              <a:rPr kumimoji="1" lang="en-US" altLang="zh-CN" dirty="0">
                <a:solidFill>
                  <a:srgbClr val="072C72"/>
                </a:solidFill>
              </a:rPr>
              <a:t>injecting them with personal information and action space relevant to real-world societies.</a:t>
            </a:r>
            <a:endParaRPr kumimoji="1" lang="zh-CN" altLang="en-US" dirty="0">
              <a:solidFill>
                <a:srgbClr val="072C72"/>
              </a:solidFill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C273CA07-F878-E596-7F5E-4F0B82C97411}"/>
              </a:ext>
            </a:extLst>
          </p:cNvPr>
          <p:cNvSpPr txBox="1"/>
          <p:nvPr/>
        </p:nvSpPr>
        <p:spPr>
          <a:xfrm>
            <a:off x="1091752" y="6330355"/>
            <a:ext cx="729342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" altLang="zh-CN" dirty="0"/>
              <a:t>Especially in the </a:t>
            </a:r>
            <a:r>
              <a:rPr lang="en" altLang="zh-CN" b="1" dirty="0"/>
              <a:t>nature tendency of egoism and altruism </a:t>
            </a:r>
            <a:r>
              <a:rPr lang="en" altLang="zh-CN" dirty="0"/>
              <a:t>of LLMs</a:t>
            </a:r>
          </a:p>
        </p:txBody>
      </p:sp>
      <p:sp>
        <p:nvSpPr>
          <p:cNvPr id="19" name="圆角矩形 18">
            <a:extLst>
              <a:ext uri="{FF2B5EF4-FFF2-40B4-BE49-F238E27FC236}">
                <a16:creationId xmlns:a16="http://schemas.microsoft.com/office/drawing/2014/main" id="{257BF65F-9AC5-4E2D-D141-F0644AC7FFFF}"/>
              </a:ext>
            </a:extLst>
          </p:cNvPr>
          <p:cNvSpPr/>
          <p:nvPr/>
        </p:nvSpPr>
        <p:spPr>
          <a:xfrm>
            <a:off x="5681307" y="3432100"/>
            <a:ext cx="3260407" cy="1388558"/>
          </a:xfrm>
          <a:prstGeom prst="roundRect">
            <a:avLst/>
          </a:pr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600" b="1" dirty="0">
                <a:solidFill>
                  <a:srgbClr val="072C72"/>
                </a:solidFill>
              </a:rPr>
              <a:t>Traditional</a:t>
            </a:r>
            <a:r>
              <a:rPr kumimoji="1" lang="en-US" altLang="zh-CN" sz="1600" dirty="0">
                <a:solidFill>
                  <a:srgbClr val="072C72"/>
                </a:solidFill>
              </a:rPr>
              <a:t>: Restoring the </a:t>
            </a:r>
            <a:r>
              <a:rPr kumimoji="1" lang="en-US" altLang="zh-CN" sz="1600" b="1" dirty="0">
                <a:solidFill>
                  <a:srgbClr val="C00000"/>
                </a:solidFill>
              </a:rPr>
              <a:t>REAL</a:t>
            </a:r>
            <a:r>
              <a:rPr kumimoji="1" lang="zh-CN" altLang="en-US" sz="1600" dirty="0">
                <a:solidFill>
                  <a:srgbClr val="072C72"/>
                </a:solidFill>
              </a:rPr>
              <a:t> </a:t>
            </a:r>
            <a:r>
              <a:rPr kumimoji="1" lang="en-US" altLang="zh-CN" sz="1600" dirty="0">
                <a:solidFill>
                  <a:srgbClr val="072C72"/>
                </a:solidFill>
              </a:rPr>
              <a:t>social environment</a:t>
            </a:r>
          </a:p>
          <a:p>
            <a:pPr algn="ctr"/>
            <a:r>
              <a:rPr kumimoji="1" lang="en-US" altLang="zh-CN" sz="1600" b="1" dirty="0">
                <a:solidFill>
                  <a:srgbClr val="072C72"/>
                </a:solidFill>
              </a:rPr>
              <a:t>Ours</a:t>
            </a:r>
            <a:r>
              <a:rPr kumimoji="1" lang="en-US" altLang="zh-CN" sz="1600" dirty="0">
                <a:solidFill>
                  <a:srgbClr val="072C72"/>
                </a:solidFill>
              </a:rPr>
              <a:t>: Creating a </a:t>
            </a:r>
            <a:r>
              <a:rPr kumimoji="1" lang="en-US" altLang="zh-CN" sz="1600" b="1" dirty="0">
                <a:solidFill>
                  <a:srgbClr val="C00000"/>
                </a:solidFill>
              </a:rPr>
              <a:t>MOCK</a:t>
            </a:r>
            <a:r>
              <a:rPr kumimoji="1" lang="en-US" altLang="zh-CN" sz="1600" dirty="0">
                <a:solidFill>
                  <a:srgbClr val="072C72"/>
                </a:solidFill>
              </a:rPr>
              <a:t> and </a:t>
            </a:r>
            <a:r>
              <a:rPr kumimoji="1" lang="en-US" altLang="zh-CN" sz="1600" b="1" dirty="0">
                <a:solidFill>
                  <a:srgbClr val="C00000"/>
                </a:solidFill>
              </a:rPr>
              <a:t>DESIGNED</a:t>
            </a:r>
            <a:r>
              <a:rPr kumimoji="1" lang="en-US" altLang="zh-CN" sz="1600" dirty="0">
                <a:solidFill>
                  <a:srgbClr val="072C72"/>
                </a:solidFill>
              </a:rPr>
              <a:t> social environment</a:t>
            </a:r>
            <a:endParaRPr kumimoji="1" lang="zh-CN" altLang="en-US" sz="1600" dirty="0">
              <a:solidFill>
                <a:srgbClr val="072C7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3477741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05E1DF-A08A-2A21-4AFF-4947251383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9391EA5C-6A36-F197-984C-472E26C4D26E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261114" y="167886"/>
            <a:ext cx="6590790" cy="480131"/>
          </a:xfrm>
        </p:spPr>
        <p:txBody>
          <a:bodyPr/>
          <a:lstStyle/>
          <a:p>
            <a:r>
              <a:rPr lang="en-US" altLang="zh-CN" sz="2800" dirty="0"/>
              <a:t>Related Work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4B9DFAE0-F5E6-C0F0-2E5F-070CCBD8ABEE}"/>
              </a:ext>
            </a:extLst>
          </p:cNvPr>
          <p:cNvSpPr txBox="1"/>
          <p:nvPr/>
        </p:nvSpPr>
        <p:spPr>
          <a:xfrm>
            <a:off x="261114" y="1010447"/>
            <a:ext cx="726366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000" b="1" i="1" dirty="0">
                <a:solidFill>
                  <a:srgbClr val="082E72"/>
                </a:solidFill>
              </a:rPr>
              <a:t>Limitations of Current Benchmarks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7AFB8177-9CAC-350F-9FA8-3DD52607D035}"/>
              </a:ext>
            </a:extLst>
          </p:cNvPr>
          <p:cNvSpPr txBox="1"/>
          <p:nvPr/>
        </p:nvSpPr>
        <p:spPr>
          <a:xfrm>
            <a:off x="282719" y="1460591"/>
            <a:ext cx="8578557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" altLang="zh-CN" dirty="0"/>
              <a:t>Focus on </a:t>
            </a:r>
            <a:r>
              <a:rPr lang="en" altLang="zh-CN" b="1" dirty="0"/>
              <a:t>micro-level games </a:t>
            </a:r>
            <a:r>
              <a:rPr lang="en" altLang="zh-CN" dirty="0"/>
              <a:t>(e.g., Prisoner's Dilemma, Rock-Paper-Scissors).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" altLang="zh-CN" b="1" dirty="0"/>
              <a:t>Small scale </a:t>
            </a:r>
            <a:r>
              <a:rPr lang="en" altLang="zh-CN" dirty="0"/>
              <a:t>(dyadic or small groups), lacking macro-level emergent dynamics.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" altLang="zh-CN" dirty="0"/>
              <a:t>Focus on "</a:t>
            </a:r>
            <a:r>
              <a:rPr lang="en" altLang="zh-CN" b="1" dirty="0"/>
              <a:t>Cooperation</a:t>
            </a:r>
            <a:r>
              <a:rPr lang="en" altLang="zh-CN" dirty="0"/>
              <a:t>" (strategic self-interest) rather than "</a:t>
            </a:r>
            <a:r>
              <a:rPr lang="en" altLang="zh-CN" b="1" dirty="0"/>
              <a:t>Altruism</a:t>
            </a:r>
            <a:r>
              <a:rPr lang="en" altLang="zh-CN" dirty="0"/>
              <a:t>" (sacrificing self-interest for collective benefit).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" altLang="zh-CN" dirty="0"/>
          </a:p>
        </p:txBody>
      </p:sp>
      <p:pic>
        <p:nvPicPr>
          <p:cNvPr id="3" name="Picture 2" descr="Home | CUHK-Shenzhen">
            <a:extLst>
              <a:ext uri="{FF2B5EF4-FFF2-40B4-BE49-F238E27FC236}">
                <a16:creationId xmlns:a16="http://schemas.microsoft.com/office/drawing/2014/main" id="{D842BE3B-B382-C14B-1D2B-158BBC0507E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34349" y="167886"/>
            <a:ext cx="3048537" cy="4373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2E2AFF33-6A5C-6654-56A7-F34B34F8037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40549" y="2640203"/>
            <a:ext cx="6662896" cy="42177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952116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20DC7F-33A5-1DDD-CE31-8D5AFC55EE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BA0956F2-7D93-06AA-8F93-1E454B373618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261114" y="167886"/>
            <a:ext cx="6590790" cy="480131"/>
          </a:xfrm>
        </p:spPr>
        <p:txBody>
          <a:bodyPr/>
          <a:lstStyle/>
          <a:p>
            <a:r>
              <a:rPr lang="en-US" altLang="zh-CN" sz="2800" dirty="0"/>
              <a:t>Related Work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B21013CD-07AB-CCDC-A324-1EF3ABBB4F99}"/>
              </a:ext>
            </a:extLst>
          </p:cNvPr>
          <p:cNvSpPr txBox="1"/>
          <p:nvPr/>
        </p:nvSpPr>
        <p:spPr>
          <a:xfrm>
            <a:off x="261114" y="1010447"/>
            <a:ext cx="726366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000" b="1" i="1" dirty="0">
                <a:solidFill>
                  <a:srgbClr val="082E72"/>
                </a:solidFill>
              </a:rPr>
              <a:t>Our Contributions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4369F81A-8205-BB8A-B63F-0EE63DF9D1BE}"/>
              </a:ext>
            </a:extLst>
          </p:cNvPr>
          <p:cNvSpPr txBox="1"/>
          <p:nvPr/>
        </p:nvSpPr>
        <p:spPr>
          <a:xfrm>
            <a:off x="282719" y="1460591"/>
            <a:ext cx="8578557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" altLang="zh-CN" b="1" dirty="0"/>
              <a:t>Macro-scale:</a:t>
            </a:r>
            <a:r>
              <a:rPr lang="en" altLang="zh-CN" dirty="0"/>
              <a:t> A society of </a:t>
            </a:r>
            <a:r>
              <a:rPr lang="en" altLang="zh-CN" b="1" dirty="0"/>
              <a:t>225 agents</a:t>
            </a:r>
            <a:r>
              <a:rPr lang="en" altLang="zh-CN" dirty="0"/>
              <a:t> navigating complex trade-offs.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" altLang="zh-CN" dirty="0"/>
              <a:t>Focusing on “</a:t>
            </a:r>
            <a:r>
              <a:rPr lang="en" altLang="zh-CN" b="1" dirty="0"/>
              <a:t>Altruism</a:t>
            </a:r>
            <a:r>
              <a:rPr lang="en" altLang="zh-CN" dirty="0"/>
              <a:t>”: "Sacrificing </a:t>
            </a:r>
            <a:r>
              <a:rPr lang="en" altLang="zh-CN" b="1" dirty="0">
                <a:solidFill>
                  <a:srgbClr val="C00000"/>
                </a:solidFill>
              </a:rPr>
              <a:t>self-interest</a:t>
            </a:r>
            <a:r>
              <a:rPr lang="en" altLang="zh-CN" dirty="0"/>
              <a:t> for </a:t>
            </a:r>
            <a:r>
              <a:rPr lang="en" altLang="zh-CN" b="1" dirty="0">
                <a:solidFill>
                  <a:srgbClr val="C00000"/>
                </a:solidFill>
              </a:rPr>
              <a:t>collective benefit</a:t>
            </a:r>
            <a:r>
              <a:rPr lang="en" altLang="zh-CN" dirty="0"/>
              <a:t>.”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" altLang="zh-CN" dirty="0"/>
              <a:t>Every agent faces a trade-off or self-interest and collective benefit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/>
              <a:t>Social Interaction</a:t>
            </a:r>
            <a:endParaRPr lang="en" altLang="zh-CN" dirty="0"/>
          </a:p>
        </p:txBody>
      </p:sp>
      <p:pic>
        <p:nvPicPr>
          <p:cNvPr id="3" name="Picture 2" descr="Home | CUHK-Shenzhen">
            <a:extLst>
              <a:ext uri="{FF2B5EF4-FFF2-40B4-BE49-F238E27FC236}">
                <a16:creationId xmlns:a16="http://schemas.microsoft.com/office/drawing/2014/main" id="{B20C08EF-0977-075B-6CDC-68A1BDA1C7B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34349" y="167886"/>
            <a:ext cx="3048537" cy="4373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46D721C5-C9E3-1F01-7764-A81F49AF90F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31519" y="2628767"/>
            <a:ext cx="6680961" cy="42292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862359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42D298-A450-D5C8-6E62-0F6077C083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514C341C-6ABB-45C0-0885-49F6047A2ABF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261114" y="167886"/>
            <a:ext cx="6590790" cy="480131"/>
          </a:xfrm>
        </p:spPr>
        <p:txBody>
          <a:bodyPr/>
          <a:lstStyle/>
          <a:p>
            <a:r>
              <a:rPr lang="en-US" altLang="zh-CN" sz="2800" dirty="0"/>
              <a:t>Methodology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E66A6EC5-DBDF-5281-0EF8-7935E2EC9EE6}"/>
              </a:ext>
            </a:extLst>
          </p:cNvPr>
          <p:cNvSpPr txBox="1"/>
          <p:nvPr/>
        </p:nvSpPr>
        <p:spPr>
          <a:xfrm>
            <a:off x="261114" y="1010447"/>
            <a:ext cx="726366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000" b="1" i="1" dirty="0">
                <a:solidFill>
                  <a:srgbClr val="082E72"/>
                </a:solidFill>
              </a:rPr>
              <a:t>A Schelling-Variant Urban Migration Model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D13E7B98-8209-8FD0-A6F5-17D5A0E3125F}"/>
              </a:ext>
            </a:extLst>
          </p:cNvPr>
          <p:cNvSpPr txBox="1"/>
          <p:nvPr/>
        </p:nvSpPr>
        <p:spPr>
          <a:xfrm>
            <a:off x="282719" y="1460591"/>
            <a:ext cx="8578557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altLang="zh-CN" dirty="0"/>
              <a:t>Based on the Schelling model, we created a simulation environment with</a:t>
            </a:r>
            <a:r>
              <a:rPr lang="en-US" altLang="zh-CN" dirty="0"/>
              <a:t>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" altLang="zh-CN" dirty="0"/>
              <a:t>multiple blocks of </a:t>
            </a:r>
            <a:r>
              <a:rPr lang="en" altLang="zh-CN" b="1" dirty="0">
                <a:solidFill>
                  <a:srgbClr val="C00000"/>
                </a:solidFill>
              </a:rPr>
              <a:t>communities</a:t>
            </a:r>
            <a:r>
              <a:rPr lang="en" altLang="zh-CN" dirty="0"/>
              <a:t>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" altLang="zh-CN" dirty="0"/>
              <a:t>set </a:t>
            </a:r>
            <a:r>
              <a:rPr lang="en" altLang="zh-CN" b="1" dirty="0">
                <a:solidFill>
                  <a:srgbClr val="C00000"/>
                </a:solidFill>
              </a:rPr>
              <a:t>utility</a:t>
            </a:r>
            <a:r>
              <a:rPr lang="en" altLang="zh-CN" dirty="0"/>
              <a:t> formulas for agents and the system, allowing agents to migrate.</a:t>
            </a:r>
          </a:p>
          <a:p>
            <a:r>
              <a:rPr lang="en" altLang="zh-CN" dirty="0"/>
              <a:t>We observed the agent's </a:t>
            </a:r>
            <a:r>
              <a:rPr lang="en" altLang="zh-CN" b="1" dirty="0">
                <a:solidFill>
                  <a:srgbClr val="C00000"/>
                </a:solidFill>
              </a:rPr>
              <a:t>trade-offs between individual and collective interests.</a:t>
            </a:r>
          </a:p>
          <a:p>
            <a:r>
              <a:rPr lang="en" altLang="zh-CN" b="1" dirty="0">
                <a:solidFill>
                  <a:srgbClr val="C00000"/>
                </a:solidFill>
              </a:rPr>
              <a:t>More details later </a:t>
            </a:r>
          </a:p>
        </p:txBody>
      </p:sp>
      <p:pic>
        <p:nvPicPr>
          <p:cNvPr id="3" name="Picture 2" descr="Home | CUHK-Shenzhen">
            <a:extLst>
              <a:ext uri="{FF2B5EF4-FFF2-40B4-BE49-F238E27FC236}">
                <a16:creationId xmlns:a16="http://schemas.microsoft.com/office/drawing/2014/main" id="{E47101D7-8BD3-B8ED-F211-D76E757C2FE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34349" y="167886"/>
            <a:ext cx="3048537" cy="4373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80757286-EDC5-8474-40E9-6F8627E1E02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0419" y="3203978"/>
            <a:ext cx="3600892" cy="2175035"/>
          </a:xfrm>
          <a:prstGeom prst="rect">
            <a:avLst/>
          </a:prstGeom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DB797696-6130-52B5-E277-D437E2A0FA80}"/>
              </a:ext>
            </a:extLst>
          </p:cNvPr>
          <p:cNvSpPr txBox="1"/>
          <p:nvPr/>
        </p:nvSpPr>
        <p:spPr>
          <a:xfrm>
            <a:off x="77029" y="5368308"/>
            <a:ext cx="4267671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600" b="1" dirty="0"/>
              <a:t>Schelling Segregation Model</a:t>
            </a:r>
          </a:p>
          <a:p>
            <a:pPr algn="ctr"/>
            <a:r>
              <a:rPr lang="en-US" altLang="zh-CN" sz="1600" i="1" dirty="0"/>
              <a:t>[Thomas C. Schelling, 1971]</a:t>
            </a:r>
          </a:p>
          <a:p>
            <a:pPr algn="ctr"/>
            <a:r>
              <a:rPr lang="en-US" altLang="zh-CN" sz="1600" dirty="0"/>
              <a:t>The first </a:t>
            </a:r>
            <a:r>
              <a:rPr lang="en-US" altLang="zh-CN" sz="1600" b="1" dirty="0"/>
              <a:t>agent-based model</a:t>
            </a:r>
          </a:p>
          <a:p>
            <a:pPr algn="ctr"/>
            <a:r>
              <a:rPr lang="en-US" altLang="zh-CN" sz="1600" dirty="0"/>
              <a:t>Pioneering the use of </a:t>
            </a:r>
            <a:r>
              <a:rPr lang="en-US" altLang="zh-CN" sz="1600" b="1" dirty="0"/>
              <a:t>agent</a:t>
            </a:r>
            <a:r>
              <a:rPr lang="en-US" altLang="zh-CN" sz="1600" dirty="0"/>
              <a:t> to study social phenomena</a:t>
            </a:r>
            <a:endParaRPr lang="en" altLang="zh-CN" sz="1600" dirty="0"/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E9A6B14C-EBEB-45AA-9559-42B267DB8DD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44700" y="3375697"/>
            <a:ext cx="4267671" cy="1672466"/>
          </a:xfrm>
          <a:prstGeom prst="rect">
            <a:avLst/>
          </a:prstGeom>
        </p:spPr>
      </p:pic>
      <p:sp>
        <p:nvSpPr>
          <p:cNvPr id="9" name="文本框 8">
            <a:extLst>
              <a:ext uri="{FF2B5EF4-FFF2-40B4-BE49-F238E27FC236}">
                <a16:creationId xmlns:a16="http://schemas.microsoft.com/office/drawing/2014/main" id="{B2A8E245-3A6A-EF1C-9A6F-D4B77C82E4A9}"/>
              </a:ext>
            </a:extLst>
          </p:cNvPr>
          <p:cNvSpPr txBox="1"/>
          <p:nvPr/>
        </p:nvSpPr>
        <p:spPr>
          <a:xfrm>
            <a:off x="4678090" y="5379013"/>
            <a:ext cx="3600893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600" b="1" dirty="0"/>
              <a:t>Ours</a:t>
            </a:r>
          </a:p>
          <a:p>
            <a:pPr algn="ctr"/>
            <a:r>
              <a:rPr lang="en-US" altLang="zh-CN" sz="1600" dirty="0"/>
              <a:t>Based on Schelling Model, also an urban segregation model</a:t>
            </a:r>
          </a:p>
          <a:p>
            <a:pPr algn="ctr"/>
            <a:r>
              <a:rPr lang="en-US" altLang="zh-CN" sz="1600" dirty="0"/>
              <a:t>“”</a:t>
            </a:r>
            <a:r>
              <a:rPr lang="en-US" altLang="zh-CN" sz="1600" b="1" dirty="0"/>
              <a:t>A social dilemma</a:t>
            </a:r>
            <a:r>
              <a:rPr lang="en-US" altLang="zh-CN" sz="1600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91886026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2D9C3A-DA57-C0CF-4710-E409AC543E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723B6783-85C5-AD7C-90C3-F1B18D53D310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261114" y="167886"/>
            <a:ext cx="6590790" cy="480131"/>
          </a:xfrm>
        </p:spPr>
        <p:txBody>
          <a:bodyPr/>
          <a:lstStyle/>
          <a:p>
            <a:r>
              <a:rPr lang="en-US" altLang="zh-CN" sz="2800" dirty="0"/>
              <a:t>Methodology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59B79539-98E0-45B3-F7C2-C24EF958F436}"/>
              </a:ext>
            </a:extLst>
          </p:cNvPr>
          <p:cNvSpPr txBox="1"/>
          <p:nvPr/>
        </p:nvSpPr>
        <p:spPr>
          <a:xfrm>
            <a:off x="261114" y="1010447"/>
            <a:ext cx="726366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000" b="1" i="1" dirty="0">
                <a:solidFill>
                  <a:srgbClr val="082E72"/>
                </a:solidFill>
              </a:rPr>
              <a:t>Basic Setup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7D0DBFE-9A5B-E504-AE5F-E65A7A86C1F8}"/>
              </a:ext>
            </a:extLst>
          </p:cNvPr>
          <p:cNvSpPr txBox="1"/>
          <p:nvPr/>
        </p:nvSpPr>
        <p:spPr>
          <a:xfrm>
            <a:off x="282719" y="1460591"/>
            <a:ext cx="8578557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altLang="zh-CN" dirty="0"/>
              <a:t>Based on the Schelling model, we created a simulation environment with</a:t>
            </a:r>
            <a:r>
              <a:rPr lang="en-US" altLang="zh-CN" dirty="0"/>
              <a:t>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" altLang="zh-CN" dirty="0"/>
              <a:t>3 × 3 Grid of Residential Blocks (</a:t>
            </a:r>
            <a:r>
              <a:rPr lang="en" altLang="zh-CN" b="1" dirty="0">
                <a:solidFill>
                  <a:srgbClr val="C00000"/>
                </a:solidFill>
              </a:rPr>
              <a:t>Q = 9</a:t>
            </a:r>
            <a:r>
              <a:rPr lang="en" altLang="zh-CN" dirty="0"/>
              <a:t>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" altLang="zh-CN" dirty="0"/>
              <a:t>Max capability of each block: </a:t>
            </a:r>
            <a:r>
              <a:rPr lang="en" altLang="zh-CN" b="1" dirty="0">
                <a:solidFill>
                  <a:srgbClr val="C00000"/>
                </a:solidFill>
              </a:rPr>
              <a:t>H = </a:t>
            </a:r>
            <a:r>
              <a:rPr lang="en-US" altLang="zh-CN" b="1" dirty="0">
                <a:solidFill>
                  <a:srgbClr val="C00000"/>
                </a:solidFill>
              </a:rPr>
              <a:t>50</a:t>
            </a:r>
            <a:r>
              <a:rPr lang="zh-CN" altLang="en-US" b="1" dirty="0">
                <a:solidFill>
                  <a:srgbClr val="C00000"/>
                </a:solidFill>
              </a:rPr>
              <a:t> </a:t>
            </a:r>
            <a:r>
              <a:rPr lang="en-US" altLang="zh-CN" dirty="0"/>
              <a:t>agents/block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" altLang="zh-CN" dirty="0"/>
              <a:t>Initial density </a:t>
            </a:r>
            <a:r>
              <a:rPr lang="en" altLang="zh-CN" b="1" dirty="0">
                <a:solidFill>
                  <a:srgbClr val="C00000"/>
                </a:solidFill>
              </a:rPr>
              <a:t>𝜌 = 0.5</a:t>
            </a:r>
            <a:r>
              <a:rPr lang="en" altLang="zh-CN" dirty="0"/>
              <a:t>, randomly assigned to each block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" altLang="zh-CN" dirty="0"/>
              <a:t>Ensure each blocks has around 25 agents in the beginning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" altLang="zh-CN" dirty="0"/>
              <a:t>Population: </a:t>
            </a:r>
            <a:r>
              <a:rPr lang="en" altLang="zh-CN" b="1" dirty="0">
                <a:solidFill>
                  <a:srgbClr val="C00000"/>
                </a:solidFill>
              </a:rPr>
              <a:t>N = 50 × 9 × 0.5 = 225 agents </a:t>
            </a:r>
            <a:r>
              <a:rPr lang="en" altLang="zh-CN" dirty="0"/>
              <a:t>in total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" altLang="zh-CN" dirty="0"/>
              <a:t>Action Space: </a:t>
            </a:r>
            <a:r>
              <a:rPr lang="en" altLang="zh-CN" b="1" dirty="0">
                <a:solidFill>
                  <a:srgbClr val="C00000"/>
                </a:solidFill>
              </a:rPr>
              <a:t>Move</a:t>
            </a:r>
            <a:r>
              <a:rPr lang="en" altLang="zh-CN" dirty="0"/>
              <a:t> to a new block or </a:t>
            </a:r>
            <a:r>
              <a:rPr lang="en" altLang="zh-CN" b="1" dirty="0">
                <a:solidFill>
                  <a:srgbClr val="C00000"/>
                </a:solidFill>
              </a:rPr>
              <a:t>Stay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" altLang="zh-CN" dirty="0"/>
              <a:t>Social Interaction: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" altLang="zh-CN" b="1" dirty="0"/>
              <a:t>Message Board</a:t>
            </a:r>
            <a:r>
              <a:rPr lang="en" altLang="zh-CN" dirty="0"/>
              <a:t>: see what other agents say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" altLang="zh-CN" b="1" dirty="0"/>
              <a:t>Memory Window</a:t>
            </a:r>
            <a:r>
              <a:rPr lang="en" altLang="zh-CN" dirty="0"/>
              <a:t>: see what other agents do</a:t>
            </a:r>
            <a:endParaRPr lang="en-US" altLang="zh-CN" dirty="0"/>
          </a:p>
        </p:txBody>
      </p:sp>
      <p:pic>
        <p:nvPicPr>
          <p:cNvPr id="3" name="Picture 2" descr="Home | CUHK-Shenzhen">
            <a:extLst>
              <a:ext uri="{FF2B5EF4-FFF2-40B4-BE49-F238E27FC236}">
                <a16:creationId xmlns:a16="http://schemas.microsoft.com/office/drawing/2014/main" id="{172D834D-9D16-9FC5-8CAD-C404FAE2326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34349" y="167886"/>
            <a:ext cx="3048537" cy="4373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F7BE6B23-6304-28EF-00F7-E6A0898E26B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6528" y="4382520"/>
            <a:ext cx="5179430" cy="2029777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E3AEDB9E-D13F-C0AA-52F7-33BAE2CF057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34666" y="2878925"/>
            <a:ext cx="2380221" cy="35333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280057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576F88-F9A1-DAFE-BAE1-E5863B544A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DC50D4A6-E1C3-7C6B-DE10-DE8524F0F533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261114" y="167886"/>
            <a:ext cx="6590790" cy="480131"/>
          </a:xfrm>
        </p:spPr>
        <p:txBody>
          <a:bodyPr/>
          <a:lstStyle/>
          <a:p>
            <a:r>
              <a:rPr lang="en-US" altLang="zh-CN" sz="2800" dirty="0"/>
              <a:t>Methodology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49B31090-C4C3-96CE-251D-9BE31A5FF542}"/>
              </a:ext>
            </a:extLst>
          </p:cNvPr>
          <p:cNvSpPr txBox="1"/>
          <p:nvPr/>
        </p:nvSpPr>
        <p:spPr>
          <a:xfrm>
            <a:off x="261114" y="1010447"/>
            <a:ext cx="726366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000" b="1" i="1" dirty="0">
                <a:solidFill>
                  <a:srgbClr val="082E72"/>
                </a:solidFill>
              </a:rPr>
              <a:t>The Social Dilemma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4EA7428F-D613-E181-54D2-085E0AFEDBB4}"/>
              </a:ext>
            </a:extLst>
          </p:cNvPr>
          <p:cNvSpPr txBox="1"/>
          <p:nvPr/>
        </p:nvSpPr>
        <p:spPr>
          <a:xfrm>
            <a:off x="282719" y="1460591"/>
            <a:ext cx="5768069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altLang="zh-CN" dirty="0"/>
              <a:t>Utility Function</a:t>
            </a:r>
          </a:p>
          <a:p>
            <a:endParaRPr lang="en" altLang="zh-CN" dirty="0"/>
          </a:p>
          <a:p>
            <a:endParaRPr lang="en" altLang="zh-CN" dirty="0"/>
          </a:p>
          <a:p>
            <a:endParaRPr lang="en" altLang="zh-C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" altLang="zh-CN" dirty="0"/>
              <a:t>Individual utility is </a:t>
            </a:r>
            <a:r>
              <a:rPr lang="en" altLang="zh-CN" b="1" dirty="0">
                <a:solidFill>
                  <a:srgbClr val="C00000"/>
                </a:solidFill>
              </a:rPr>
              <a:t>highest</a:t>
            </a:r>
            <a:r>
              <a:rPr lang="en" altLang="zh-CN" dirty="0"/>
              <a:t> when the block </a:t>
            </a:r>
            <a:r>
              <a:rPr lang="en" altLang="zh-CN" b="1" dirty="0">
                <a:solidFill>
                  <a:srgbClr val="C00000"/>
                </a:solidFill>
              </a:rPr>
              <a:t>density reaches 0.5</a:t>
            </a:r>
            <a:r>
              <a:rPr lang="en" altLang="zh-CN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/>
              <a:t>When the density exceeds 0.5, individual utility decreases;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" altLang="zh-CN" dirty="0"/>
              <a:t>Utility is </a:t>
            </a:r>
            <a:r>
              <a:rPr lang="en" altLang="zh-CN" b="1" dirty="0">
                <a:solidFill>
                  <a:srgbClr val="C00000"/>
                </a:solidFill>
              </a:rPr>
              <a:t>higher</a:t>
            </a:r>
            <a:r>
              <a:rPr lang="en" altLang="zh-CN" dirty="0"/>
              <a:t> for slightly </a:t>
            </a:r>
            <a:r>
              <a:rPr lang="en" altLang="zh-CN" b="1" dirty="0">
                <a:solidFill>
                  <a:srgbClr val="C00000"/>
                </a:solidFill>
              </a:rPr>
              <a:t>over-populated</a:t>
            </a:r>
            <a:r>
              <a:rPr lang="en" altLang="zh-CN" dirty="0"/>
              <a:t> blocks than under-populated ones.</a:t>
            </a:r>
          </a:p>
        </p:txBody>
      </p:sp>
      <p:pic>
        <p:nvPicPr>
          <p:cNvPr id="3" name="Picture 2" descr="Home | CUHK-Shenzhen">
            <a:extLst>
              <a:ext uri="{FF2B5EF4-FFF2-40B4-BE49-F238E27FC236}">
                <a16:creationId xmlns:a16="http://schemas.microsoft.com/office/drawing/2014/main" id="{7F40CE0B-935E-9526-3B33-47398577E3C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34349" y="167886"/>
            <a:ext cx="3048537" cy="4373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172EEEE8-8A7D-95AC-390E-77FBA9267CC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81782" y="1691255"/>
            <a:ext cx="2422709" cy="2480393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F36167CB-8EB4-83EF-960C-A69204463A64}"/>
              </a:ext>
            </a:extLst>
          </p:cNvPr>
          <p:cNvPicPr>
            <a:picLocks noChangeAspect="1"/>
          </p:cNvPicPr>
          <p:nvPr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282719" y="1621374"/>
            <a:ext cx="3289608" cy="929351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E8095EAD-FA95-7733-C2A1-7F318EAC0ED7}"/>
              </a:ext>
            </a:extLst>
          </p:cNvPr>
          <p:cNvSpPr txBox="1"/>
          <p:nvPr/>
        </p:nvSpPr>
        <p:spPr>
          <a:xfrm>
            <a:off x="282719" y="4208261"/>
            <a:ext cx="8621772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zh-CN" dirty="0"/>
              <a:t>That is, the best state is when a block have 25 agents. 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altLang="zh-CN" dirty="0"/>
              <a:t>But the utility living in a block with 26 agents (</a:t>
            </a:r>
            <a:r>
              <a:rPr lang="en-US" altLang="zh-CN" b="1" dirty="0"/>
              <a:t>one more agent than 25</a:t>
            </a:r>
            <a:r>
              <a:rPr lang="en-US" altLang="zh-CN" dirty="0"/>
              <a:t>) is </a:t>
            </a:r>
            <a:r>
              <a:rPr lang="en-US" altLang="zh-CN" b="1" dirty="0">
                <a:solidFill>
                  <a:srgbClr val="C00000"/>
                </a:solidFill>
              </a:rPr>
              <a:t>slightly better </a:t>
            </a:r>
            <a:r>
              <a:rPr lang="en-US" altLang="zh-CN" dirty="0"/>
              <a:t>than a block with 24 agents (</a:t>
            </a:r>
            <a:r>
              <a:rPr lang="en-US" altLang="zh-CN" b="1" dirty="0"/>
              <a:t>one less agent</a:t>
            </a:r>
            <a:r>
              <a:rPr lang="en-US" altLang="zh-CN" dirty="0"/>
              <a:t>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" altLang="zh-CN" b="1" dirty="0"/>
              <a:t>The Trap:</a:t>
            </a:r>
            <a:r>
              <a:rPr lang="en" altLang="zh-CN" dirty="0"/>
              <a:t> Egoistic agents are incentivized to move to over-populated blocks for personal gain, causing the system to fall into a sub-optimal equilibrium.</a:t>
            </a:r>
            <a:endParaRPr lang="en-US" altLang="zh-CN" dirty="0"/>
          </a:p>
        </p:txBody>
      </p:sp>
      <p:sp>
        <p:nvSpPr>
          <p:cNvPr id="7" name="圆角矩形 6">
            <a:extLst>
              <a:ext uri="{FF2B5EF4-FFF2-40B4-BE49-F238E27FC236}">
                <a16:creationId xmlns:a16="http://schemas.microsoft.com/office/drawing/2014/main" id="{3BA56F7D-FFF9-BD3B-CC02-5351DF1E7E42}"/>
              </a:ext>
            </a:extLst>
          </p:cNvPr>
          <p:cNvSpPr/>
          <p:nvPr/>
        </p:nvSpPr>
        <p:spPr>
          <a:xfrm>
            <a:off x="946996" y="5797529"/>
            <a:ext cx="7485681" cy="923330"/>
          </a:xfrm>
          <a:prstGeom prst="roundRect">
            <a:avLst/>
          </a:pr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>
                <a:solidFill>
                  <a:srgbClr val="072C72"/>
                </a:solidFill>
              </a:rPr>
              <a:t>The </a:t>
            </a:r>
            <a:r>
              <a:rPr kumimoji="1" lang="en-US" altLang="zh-CN" b="1" dirty="0">
                <a:solidFill>
                  <a:srgbClr val="C00000"/>
                </a:solidFill>
              </a:rPr>
              <a:t>Dilemma</a:t>
            </a:r>
            <a:r>
              <a:rPr kumimoji="1" lang="en-US" altLang="zh-CN" dirty="0">
                <a:solidFill>
                  <a:srgbClr val="072C72"/>
                </a:solidFill>
              </a:rPr>
              <a:t> is: Will agent move to block that would </a:t>
            </a:r>
            <a:r>
              <a:rPr kumimoji="1" lang="en-US" altLang="zh-CN" b="1" dirty="0">
                <a:solidFill>
                  <a:srgbClr val="C00000"/>
                </a:solidFill>
              </a:rPr>
              <a:t>decrease its own utility to increase the system's utility</a:t>
            </a:r>
            <a:r>
              <a:rPr kumimoji="1" lang="en-US" altLang="zh-CN" dirty="0">
                <a:solidFill>
                  <a:srgbClr val="072C72"/>
                </a:solidFill>
              </a:rPr>
              <a:t>?</a:t>
            </a:r>
            <a:endParaRPr kumimoji="1" lang="zh-CN" altLang="en-US" dirty="0">
              <a:solidFill>
                <a:srgbClr val="072C72"/>
              </a:solidFill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6B569E3-3756-1115-FF48-7B615C5D8378}"/>
              </a:ext>
            </a:extLst>
          </p:cNvPr>
          <p:cNvSpPr txBox="1"/>
          <p:nvPr/>
        </p:nvSpPr>
        <p:spPr>
          <a:xfrm>
            <a:off x="3045033" y="1227286"/>
            <a:ext cx="3289608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zh-CN" sz="1600" dirty="0"/>
              <a:t>The block’s utility is the sum of the individual utilities within the block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zh-CN" sz="1600" dirty="0"/>
              <a:t>System utility is the sum of block utilities</a:t>
            </a:r>
          </a:p>
        </p:txBody>
      </p:sp>
    </p:spTree>
    <p:extLst>
      <p:ext uri="{BB962C8B-B14F-4D97-AF65-F5344CB8AC3E}">
        <p14:creationId xmlns:p14="http://schemas.microsoft.com/office/powerpoint/2010/main" val="193977409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75052C-9AA4-E412-B5F3-1A0BDD59DB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C0288151-B2AA-3FDB-E5C5-FA0E9156DE33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261114" y="167886"/>
            <a:ext cx="6590790" cy="480131"/>
          </a:xfrm>
        </p:spPr>
        <p:txBody>
          <a:bodyPr/>
          <a:lstStyle/>
          <a:p>
            <a:r>
              <a:rPr lang="en-US" altLang="zh-CN" sz="2800" dirty="0"/>
              <a:t>Experiments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A2D3B772-9A15-DD59-119A-33481F122232}"/>
              </a:ext>
            </a:extLst>
          </p:cNvPr>
          <p:cNvSpPr txBox="1"/>
          <p:nvPr/>
        </p:nvSpPr>
        <p:spPr>
          <a:xfrm>
            <a:off x="261114" y="1010447"/>
            <a:ext cx="726366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000" b="1" i="1" dirty="0">
                <a:solidFill>
                  <a:srgbClr val="082E72"/>
                </a:solidFill>
              </a:rPr>
              <a:t>Experimental Design &amp; Evaluation Metrics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AD94CF55-3727-0DF5-DD00-C131ADA0AF3B}"/>
              </a:ext>
            </a:extLst>
          </p:cNvPr>
          <p:cNvSpPr txBox="1"/>
          <p:nvPr/>
        </p:nvSpPr>
        <p:spPr>
          <a:xfrm>
            <a:off x="282718" y="1460591"/>
            <a:ext cx="8730653" cy="4739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altLang="zh-CN" dirty="0"/>
              <a:t>Models Tested</a:t>
            </a:r>
            <a:r>
              <a:rPr lang="en" altLang="zh-CN" b="1" dirty="0"/>
              <a:t>:</a:t>
            </a:r>
            <a:endParaRPr lang="en" altLang="zh-C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" altLang="zh-CN" b="1" dirty="0"/>
              <a:t>Reasoning Models:</a:t>
            </a:r>
            <a:r>
              <a:rPr lang="en" altLang="zh-CN" dirty="0"/>
              <a:t> o1-mini, o3-mini, Deepseek-R1.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" altLang="zh-CN" b="1" dirty="0"/>
              <a:t>Standard Models:</a:t>
            </a:r>
            <a:r>
              <a:rPr lang="en" altLang="zh-CN" dirty="0"/>
              <a:t> Gemini-2.5-pro, Qwen2.5-7B, Deepseek-V3.1.</a:t>
            </a:r>
          </a:p>
          <a:p>
            <a:endParaRPr lang="en" altLang="zh-CN" b="1" dirty="0"/>
          </a:p>
          <a:p>
            <a:r>
              <a:rPr lang="en" altLang="zh-CN" dirty="0"/>
              <a:t>Conditions</a:t>
            </a:r>
            <a:r>
              <a:rPr lang="zh-CN" altLang="en-US" dirty="0"/>
              <a:t>：</a:t>
            </a:r>
            <a:endParaRPr lang="en-US" altLang="zh-C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" altLang="zh-CN" b="1" dirty="0">
                <a:solidFill>
                  <a:srgbClr val="C00000"/>
                </a:solidFill>
              </a:rPr>
              <a:t>Presence</a:t>
            </a:r>
            <a:r>
              <a:rPr lang="en" altLang="zh-CN" dirty="0"/>
              <a:t> vs. </a:t>
            </a:r>
            <a:r>
              <a:rPr lang="en" altLang="zh-CN" b="1" dirty="0">
                <a:solidFill>
                  <a:srgbClr val="C00000"/>
                </a:solidFill>
              </a:rPr>
              <a:t>Absence</a:t>
            </a:r>
            <a:r>
              <a:rPr lang="en" altLang="zh-CN" dirty="0"/>
              <a:t> of Message Board</a:t>
            </a:r>
            <a:r>
              <a:rPr lang="zh-CN" altLang="en-US" dirty="0"/>
              <a:t> </a:t>
            </a:r>
            <a:r>
              <a:rPr lang="en-US" altLang="zh-CN" dirty="0"/>
              <a:t>(test the social interaction)</a:t>
            </a:r>
          </a:p>
          <a:p>
            <a:endParaRPr lang="en-US" altLang="zh-CN" dirty="0"/>
          </a:p>
          <a:p>
            <a:r>
              <a:rPr lang="en" altLang="zh-CN" dirty="0"/>
              <a:t>Evaluation Metrics: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" altLang="zh-CN" b="1" dirty="0"/>
              <a:t>Quantitative:</a:t>
            </a:r>
            <a:r>
              <a:rPr lang="en" altLang="zh-CN" dirty="0"/>
              <a:t>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" altLang="zh-CN" dirty="0"/>
              <a:t>Price of Anarchy (</a:t>
            </a:r>
            <a:r>
              <a:rPr lang="en" altLang="zh-CN" dirty="0" err="1"/>
              <a:t>PoA</a:t>
            </a:r>
            <a:r>
              <a:rPr lang="en" altLang="zh-CN" dirty="0"/>
              <a:t>): </a:t>
            </a:r>
            <a:r>
              <a:rPr lang="en" altLang="zh-CN" dirty="0" err="1"/>
              <a:t>U</a:t>
            </a:r>
            <a:r>
              <a:rPr lang="en" altLang="zh-CN" baseline="-25000" dirty="0" err="1"/>
              <a:t>final</a:t>
            </a:r>
            <a:r>
              <a:rPr lang="en" altLang="zh-CN" dirty="0"/>
              <a:t>/</a:t>
            </a:r>
            <a:r>
              <a:rPr lang="en" altLang="zh-CN" dirty="0" err="1"/>
              <a:t>U</a:t>
            </a:r>
            <a:r>
              <a:rPr lang="en" altLang="zh-CN" baseline="-25000" dirty="0" err="1"/>
              <a:t>optimal</a:t>
            </a:r>
            <a:endParaRPr lang="en" altLang="zh-CN" dirty="0"/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" altLang="zh-CN" sz="1600" dirty="0"/>
              <a:t>Measuring the extent to which the system achieved the </a:t>
            </a:r>
            <a:r>
              <a:rPr lang="en" altLang="zh-CN" sz="1600" b="1" dirty="0"/>
              <a:t>optimal</a:t>
            </a:r>
            <a:r>
              <a:rPr lang="en" altLang="zh-CN" sz="1600" dirty="0"/>
              <a:t> collective welfare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" altLang="zh-CN" dirty="0"/>
              <a:t>Gini Index (</a:t>
            </a:r>
            <a:r>
              <a:rPr lang="en" altLang="zh-CN" dirty="0" err="1"/>
              <a:t>G</a:t>
            </a:r>
            <a:r>
              <a:rPr lang="en" altLang="zh-CN" baseline="-25000" dirty="0" err="1"/>
              <a:t>pop</a:t>
            </a:r>
            <a:r>
              <a:rPr lang="en" altLang="zh-CN" dirty="0"/>
              <a:t>)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" altLang="zh-CN" sz="1600" dirty="0"/>
              <a:t>Measuring the degree of </a:t>
            </a:r>
            <a:r>
              <a:rPr lang="en" altLang="zh-CN" sz="1600" b="1" dirty="0"/>
              <a:t>system segregation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" altLang="zh-CN" dirty="0"/>
              <a:t>Action types (calculated by different changes of </a:t>
            </a:r>
            <a:r>
              <a:rPr lang="en" altLang="zh-CN" b="1" dirty="0">
                <a:solidFill>
                  <a:srgbClr val="C00000"/>
                </a:solidFill>
              </a:rPr>
              <a:t>𝛥u (individual) and 𝛥U (system)</a:t>
            </a:r>
            <a:r>
              <a:rPr lang="en" altLang="zh-CN" dirty="0">
                <a:solidFill>
                  <a:srgbClr val="C00000"/>
                </a:solidFill>
              </a:rPr>
              <a:t>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" altLang="zh-CN" b="1" dirty="0"/>
              <a:t>Qualitative:</a:t>
            </a:r>
            <a:r>
              <a:rPr lang="en" altLang="zh-CN" dirty="0"/>
              <a:t> Grounded Theory analysis using LLM-as-Judge to code agent reasoning.</a:t>
            </a:r>
          </a:p>
        </p:txBody>
      </p:sp>
      <p:pic>
        <p:nvPicPr>
          <p:cNvPr id="3" name="Picture 2" descr="Home | CUHK-Shenzhen">
            <a:extLst>
              <a:ext uri="{FF2B5EF4-FFF2-40B4-BE49-F238E27FC236}">
                <a16:creationId xmlns:a16="http://schemas.microsoft.com/office/drawing/2014/main" id="{68223510-0C52-8607-8F23-44865FF36F5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34349" y="167886"/>
            <a:ext cx="3048537" cy="4373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2193376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3CC32B-B6A1-5027-FD96-B86B3BB6A2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894B6372-5461-EFC2-A66C-50EAAB9CA054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261114" y="167886"/>
            <a:ext cx="6590790" cy="480131"/>
          </a:xfrm>
        </p:spPr>
        <p:txBody>
          <a:bodyPr/>
          <a:lstStyle/>
          <a:p>
            <a:r>
              <a:rPr lang="en-US" altLang="zh-CN" sz="2800" dirty="0"/>
              <a:t>Experiments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218B2960-B1D2-907E-4B45-7C1BE8557B05}"/>
              </a:ext>
            </a:extLst>
          </p:cNvPr>
          <p:cNvSpPr txBox="1"/>
          <p:nvPr/>
        </p:nvSpPr>
        <p:spPr>
          <a:xfrm>
            <a:off x="261114" y="1010447"/>
            <a:ext cx="726366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000" b="1" i="1" dirty="0">
                <a:solidFill>
                  <a:srgbClr val="082E72"/>
                </a:solidFill>
              </a:rPr>
              <a:t>Experimental Design &amp; Evaluation Metrics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70B028EC-1D98-30B7-DDF5-D48823BBBEED}"/>
              </a:ext>
            </a:extLst>
          </p:cNvPr>
          <p:cNvSpPr txBox="1"/>
          <p:nvPr/>
        </p:nvSpPr>
        <p:spPr>
          <a:xfrm>
            <a:off x="282718" y="1460591"/>
            <a:ext cx="8730653" cy="28007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altLang="zh-CN" dirty="0">
                <a:solidFill>
                  <a:schemeClr val="tx2"/>
                </a:solidFill>
              </a:rPr>
              <a:t>Evaluation Metrics: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" altLang="zh-CN" b="1" dirty="0">
                <a:solidFill>
                  <a:schemeClr val="tx2"/>
                </a:solidFill>
              </a:rPr>
              <a:t>Quantitative:</a:t>
            </a:r>
            <a:r>
              <a:rPr lang="en" altLang="zh-CN" dirty="0">
                <a:solidFill>
                  <a:schemeClr val="tx2"/>
                </a:solidFill>
              </a:rPr>
              <a:t>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" altLang="zh-CN" dirty="0">
                <a:solidFill>
                  <a:schemeClr val="tx2"/>
                </a:solidFill>
              </a:rPr>
              <a:t>Price of Anarchy (</a:t>
            </a:r>
            <a:r>
              <a:rPr lang="en" altLang="zh-CN" dirty="0" err="1">
                <a:solidFill>
                  <a:schemeClr val="tx2"/>
                </a:solidFill>
              </a:rPr>
              <a:t>PoA</a:t>
            </a:r>
            <a:r>
              <a:rPr lang="en" altLang="zh-CN" dirty="0">
                <a:solidFill>
                  <a:schemeClr val="tx2"/>
                </a:solidFill>
              </a:rPr>
              <a:t>): </a:t>
            </a:r>
            <a:r>
              <a:rPr lang="en" altLang="zh-CN" dirty="0" err="1">
                <a:solidFill>
                  <a:schemeClr val="tx2"/>
                </a:solidFill>
              </a:rPr>
              <a:t>U</a:t>
            </a:r>
            <a:r>
              <a:rPr lang="en" altLang="zh-CN" baseline="-25000" dirty="0" err="1">
                <a:solidFill>
                  <a:schemeClr val="tx2"/>
                </a:solidFill>
              </a:rPr>
              <a:t>final</a:t>
            </a:r>
            <a:r>
              <a:rPr lang="en" altLang="zh-CN" dirty="0">
                <a:solidFill>
                  <a:schemeClr val="tx2"/>
                </a:solidFill>
              </a:rPr>
              <a:t>/</a:t>
            </a:r>
            <a:r>
              <a:rPr lang="en" altLang="zh-CN" dirty="0" err="1">
                <a:solidFill>
                  <a:schemeClr val="tx2"/>
                </a:solidFill>
              </a:rPr>
              <a:t>U</a:t>
            </a:r>
            <a:r>
              <a:rPr lang="en" altLang="zh-CN" baseline="-25000" dirty="0" err="1">
                <a:solidFill>
                  <a:schemeClr val="tx2"/>
                </a:solidFill>
              </a:rPr>
              <a:t>optimal</a:t>
            </a:r>
            <a:endParaRPr lang="en" altLang="zh-CN" dirty="0">
              <a:solidFill>
                <a:schemeClr val="tx2"/>
              </a:solidFill>
            </a:endParaRP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" altLang="zh-CN" sz="1600" dirty="0">
                <a:solidFill>
                  <a:schemeClr val="tx2"/>
                </a:solidFill>
              </a:rPr>
              <a:t>Measuring the extent to which the system achieved the </a:t>
            </a:r>
            <a:r>
              <a:rPr lang="en" altLang="zh-CN" sz="1600" b="1" dirty="0">
                <a:solidFill>
                  <a:schemeClr val="tx2"/>
                </a:solidFill>
              </a:rPr>
              <a:t>optimal</a:t>
            </a:r>
            <a:r>
              <a:rPr lang="en" altLang="zh-CN" sz="1600" dirty="0">
                <a:solidFill>
                  <a:schemeClr val="tx2"/>
                </a:solidFill>
              </a:rPr>
              <a:t> collective welfare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" altLang="zh-CN" dirty="0">
                <a:solidFill>
                  <a:schemeClr val="tx2"/>
                </a:solidFill>
              </a:rPr>
              <a:t>Gini Index (</a:t>
            </a:r>
            <a:r>
              <a:rPr lang="en" altLang="zh-CN" dirty="0" err="1">
                <a:solidFill>
                  <a:schemeClr val="tx2"/>
                </a:solidFill>
              </a:rPr>
              <a:t>G</a:t>
            </a:r>
            <a:r>
              <a:rPr lang="en" altLang="zh-CN" baseline="-25000" dirty="0" err="1">
                <a:solidFill>
                  <a:schemeClr val="tx2"/>
                </a:solidFill>
              </a:rPr>
              <a:t>pop</a:t>
            </a:r>
            <a:r>
              <a:rPr lang="en" altLang="zh-CN" dirty="0">
                <a:solidFill>
                  <a:schemeClr val="tx2"/>
                </a:solidFill>
              </a:rPr>
              <a:t>)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" altLang="zh-CN" sz="1600" dirty="0">
                <a:solidFill>
                  <a:schemeClr val="tx2"/>
                </a:solidFill>
              </a:rPr>
              <a:t>Measuring the degree of </a:t>
            </a:r>
            <a:r>
              <a:rPr lang="en" altLang="zh-CN" sz="1600" b="1" dirty="0">
                <a:solidFill>
                  <a:schemeClr val="tx2"/>
                </a:solidFill>
              </a:rPr>
              <a:t>system segregation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" altLang="zh-CN" dirty="0"/>
              <a:t>Action types (calculated by different changes of </a:t>
            </a:r>
            <a:r>
              <a:rPr lang="en" altLang="zh-CN" b="1" dirty="0"/>
              <a:t>𝛥u (individual) and 𝛥U (system)</a:t>
            </a:r>
            <a:r>
              <a:rPr lang="en" altLang="zh-CN" dirty="0"/>
              <a:t>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" altLang="zh-CN" b="1" dirty="0">
                <a:solidFill>
                  <a:schemeClr val="tx2"/>
                </a:solidFill>
              </a:rPr>
              <a:t>Qualitative:</a:t>
            </a:r>
            <a:r>
              <a:rPr lang="en" altLang="zh-CN" dirty="0">
                <a:solidFill>
                  <a:schemeClr val="tx2"/>
                </a:solidFill>
              </a:rPr>
              <a:t> Grounded Theory analysis using LLM-as-Judge to code agent reasoning.</a:t>
            </a:r>
          </a:p>
        </p:txBody>
      </p:sp>
      <p:pic>
        <p:nvPicPr>
          <p:cNvPr id="3" name="Picture 2" descr="Home | CUHK-Shenzhen">
            <a:extLst>
              <a:ext uri="{FF2B5EF4-FFF2-40B4-BE49-F238E27FC236}">
                <a16:creationId xmlns:a16="http://schemas.microsoft.com/office/drawing/2014/main" id="{0B888FA8-F6D3-A009-10DD-0A835CC1EC2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34349" y="167886"/>
            <a:ext cx="3048537" cy="4373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矩形 3">
            <a:extLst>
              <a:ext uri="{FF2B5EF4-FFF2-40B4-BE49-F238E27FC236}">
                <a16:creationId xmlns:a16="http://schemas.microsoft.com/office/drawing/2014/main" id="{11E1A5DD-1233-CF1F-7406-8467E8DADFAC}"/>
              </a:ext>
            </a:extLst>
          </p:cNvPr>
          <p:cNvSpPr/>
          <p:nvPr/>
        </p:nvSpPr>
        <p:spPr>
          <a:xfrm>
            <a:off x="874718" y="2994121"/>
            <a:ext cx="7782394" cy="869758"/>
          </a:xfrm>
          <a:prstGeom prst="rect">
            <a:avLst/>
          </a:prstGeom>
          <a:noFill/>
          <a:ln w="5715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EA485194-175B-BC7A-690E-7AF7275E7E0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29122" y="4778888"/>
            <a:ext cx="6451600" cy="2032000"/>
          </a:xfrm>
          <a:prstGeom prst="rect">
            <a:avLst/>
          </a:prstGeom>
        </p:spPr>
      </p:pic>
      <p:sp>
        <p:nvSpPr>
          <p:cNvPr id="6" name="下箭头 5">
            <a:extLst>
              <a:ext uri="{FF2B5EF4-FFF2-40B4-BE49-F238E27FC236}">
                <a16:creationId xmlns:a16="http://schemas.microsoft.com/office/drawing/2014/main" id="{7D8A8339-3EE8-3D57-E5B0-D4EAACF92BAA}"/>
              </a:ext>
            </a:extLst>
          </p:cNvPr>
          <p:cNvSpPr/>
          <p:nvPr/>
        </p:nvSpPr>
        <p:spPr>
          <a:xfrm>
            <a:off x="4450117" y="3993029"/>
            <a:ext cx="395854" cy="1006483"/>
          </a:xfrm>
          <a:prstGeom prst="downArrow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A5345B98-0200-70DF-8A4E-5D7979B031AC}"/>
              </a:ext>
            </a:extLst>
          </p:cNvPr>
          <p:cNvSpPr/>
          <p:nvPr/>
        </p:nvSpPr>
        <p:spPr>
          <a:xfrm>
            <a:off x="5834349" y="5605152"/>
            <a:ext cx="1587729" cy="724395"/>
          </a:xfrm>
          <a:prstGeom prst="rect">
            <a:avLst/>
          </a:prstGeom>
          <a:noFill/>
          <a:ln w="5715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E3DA49EF-42B7-CE43-B857-2B6741830897}"/>
              </a:ext>
            </a:extLst>
          </p:cNvPr>
          <p:cNvSpPr/>
          <p:nvPr/>
        </p:nvSpPr>
        <p:spPr>
          <a:xfrm>
            <a:off x="2862388" y="6115792"/>
            <a:ext cx="1412729" cy="574322"/>
          </a:xfrm>
          <a:prstGeom prst="rect">
            <a:avLst/>
          </a:prstGeom>
          <a:noFill/>
          <a:ln w="5715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5862772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93C67C-FCDE-ED23-8A46-FDF68F1CC3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7CBD5DE2-02C0-CA89-D1D6-B31E485861CC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261114" y="167886"/>
            <a:ext cx="6590790" cy="480131"/>
          </a:xfrm>
        </p:spPr>
        <p:txBody>
          <a:bodyPr/>
          <a:lstStyle/>
          <a:p>
            <a:r>
              <a:rPr lang="en-US" altLang="zh-CN" sz="2800" dirty="0"/>
              <a:t>Experiments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5EA74E96-9235-901A-35D2-0D684E4014C1}"/>
              </a:ext>
            </a:extLst>
          </p:cNvPr>
          <p:cNvSpPr txBox="1"/>
          <p:nvPr/>
        </p:nvSpPr>
        <p:spPr>
          <a:xfrm>
            <a:off x="261114" y="1010447"/>
            <a:ext cx="726366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000" b="1" i="1" dirty="0">
                <a:solidFill>
                  <a:srgbClr val="082E72"/>
                </a:solidFill>
              </a:rPr>
              <a:t>Experimental Design &amp; Evaluation Metrics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A637FA3-8A52-45C9-E4BE-D3285E559EC1}"/>
              </a:ext>
            </a:extLst>
          </p:cNvPr>
          <p:cNvSpPr txBox="1"/>
          <p:nvPr/>
        </p:nvSpPr>
        <p:spPr>
          <a:xfrm>
            <a:off x="282718" y="1460591"/>
            <a:ext cx="8730653" cy="28007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altLang="zh-CN" dirty="0">
                <a:solidFill>
                  <a:schemeClr val="tx2"/>
                </a:solidFill>
              </a:rPr>
              <a:t>Evaluation Metrics: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" altLang="zh-CN" b="1" dirty="0">
                <a:solidFill>
                  <a:schemeClr val="tx2"/>
                </a:solidFill>
              </a:rPr>
              <a:t>Quantitative:</a:t>
            </a:r>
            <a:r>
              <a:rPr lang="en" altLang="zh-CN" dirty="0">
                <a:solidFill>
                  <a:schemeClr val="tx2"/>
                </a:solidFill>
              </a:rPr>
              <a:t>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" altLang="zh-CN" dirty="0">
                <a:solidFill>
                  <a:schemeClr val="tx2"/>
                </a:solidFill>
              </a:rPr>
              <a:t>Price of Anarchy (</a:t>
            </a:r>
            <a:r>
              <a:rPr lang="en" altLang="zh-CN" dirty="0" err="1">
                <a:solidFill>
                  <a:schemeClr val="tx2"/>
                </a:solidFill>
              </a:rPr>
              <a:t>PoA</a:t>
            </a:r>
            <a:r>
              <a:rPr lang="en" altLang="zh-CN" dirty="0">
                <a:solidFill>
                  <a:schemeClr val="tx2"/>
                </a:solidFill>
              </a:rPr>
              <a:t>): </a:t>
            </a:r>
            <a:r>
              <a:rPr lang="en" altLang="zh-CN" dirty="0" err="1">
                <a:solidFill>
                  <a:schemeClr val="tx2"/>
                </a:solidFill>
              </a:rPr>
              <a:t>U</a:t>
            </a:r>
            <a:r>
              <a:rPr lang="en" altLang="zh-CN" baseline="-25000" dirty="0" err="1">
                <a:solidFill>
                  <a:schemeClr val="tx2"/>
                </a:solidFill>
              </a:rPr>
              <a:t>final</a:t>
            </a:r>
            <a:r>
              <a:rPr lang="en" altLang="zh-CN" dirty="0">
                <a:solidFill>
                  <a:schemeClr val="tx2"/>
                </a:solidFill>
              </a:rPr>
              <a:t>/</a:t>
            </a:r>
            <a:r>
              <a:rPr lang="en" altLang="zh-CN" dirty="0" err="1">
                <a:solidFill>
                  <a:schemeClr val="tx2"/>
                </a:solidFill>
              </a:rPr>
              <a:t>U</a:t>
            </a:r>
            <a:r>
              <a:rPr lang="en" altLang="zh-CN" baseline="-25000" dirty="0" err="1">
                <a:solidFill>
                  <a:schemeClr val="tx2"/>
                </a:solidFill>
              </a:rPr>
              <a:t>optimal</a:t>
            </a:r>
            <a:endParaRPr lang="en" altLang="zh-CN" dirty="0">
              <a:solidFill>
                <a:schemeClr val="tx2"/>
              </a:solidFill>
            </a:endParaRP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" altLang="zh-CN" sz="1600" dirty="0">
                <a:solidFill>
                  <a:schemeClr val="tx2"/>
                </a:solidFill>
              </a:rPr>
              <a:t>Measuring the extent to which the system achieved the </a:t>
            </a:r>
            <a:r>
              <a:rPr lang="en" altLang="zh-CN" sz="1600" b="1" dirty="0">
                <a:solidFill>
                  <a:schemeClr val="tx2"/>
                </a:solidFill>
              </a:rPr>
              <a:t>optimal</a:t>
            </a:r>
            <a:r>
              <a:rPr lang="en" altLang="zh-CN" sz="1600" dirty="0">
                <a:solidFill>
                  <a:schemeClr val="tx2"/>
                </a:solidFill>
              </a:rPr>
              <a:t> collective welfare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" altLang="zh-CN" dirty="0">
                <a:solidFill>
                  <a:schemeClr val="tx2"/>
                </a:solidFill>
              </a:rPr>
              <a:t>Gini Index (</a:t>
            </a:r>
            <a:r>
              <a:rPr lang="en" altLang="zh-CN" dirty="0" err="1">
                <a:solidFill>
                  <a:schemeClr val="tx2"/>
                </a:solidFill>
              </a:rPr>
              <a:t>G</a:t>
            </a:r>
            <a:r>
              <a:rPr lang="en" altLang="zh-CN" baseline="-25000" dirty="0" err="1">
                <a:solidFill>
                  <a:schemeClr val="tx2"/>
                </a:solidFill>
              </a:rPr>
              <a:t>pop</a:t>
            </a:r>
            <a:r>
              <a:rPr lang="en" altLang="zh-CN" dirty="0">
                <a:solidFill>
                  <a:schemeClr val="tx2"/>
                </a:solidFill>
              </a:rPr>
              <a:t>)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" altLang="zh-CN" sz="1600" dirty="0">
                <a:solidFill>
                  <a:schemeClr val="tx2"/>
                </a:solidFill>
              </a:rPr>
              <a:t>Measuring the degree of </a:t>
            </a:r>
            <a:r>
              <a:rPr lang="en" altLang="zh-CN" sz="1600" b="1" dirty="0">
                <a:solidFill>
                  <a:schemeClr val="tx2"/>
                </a:solidFill>
              </a:rPr>
              <a:t>system segregation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" altLang="zh-CN" dirty="0"/>
              <a:t>Action types (calculated by different changes of </a:t>
            </a:r>
            <a:r>
              <a:rPr lang="en" altLang="zh-CN" b="1" dirty="0"/>
              <a:t>𝛥u (individual) and 𝛥U (system)</a:t>
            </a:r>
            <a:r>
              <a:rPr lang="en" altLang="zh-CN" dirty="0"/>
              <a:t>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" altLang="zh-CN" b="1" dirty="0">
                <a:solidFill>
                  <a:schemeClr val="tx2"/>
                </a:solidFill>
              </a:rPr>
              <a:t>Qualitative:</a:t>
            </a:r>
            <a:r>
              <a:rPr lang="en" altLang="zh-CN" dirty="0">
                <a:solidFill>
                  <a:schemeClr val="tx2"/>
                </a:solidFill>
              </a:rPr>
              <a:t> Grounded Theory analysis using LLM-as-Judge to code agent reasoning.</a:t>
            </a:r>
          </a:p>
        </p:txBody>
      </p:sp>
      <p:pic>
        <p:nvPicPr>
          <p:cNvPr id="3" name="Picture 2" descr="Home | CUHK-Shenzhen">
            <a:extLst>
              <a:ext uri="{FF2B5EF4-FFF2-40B4-BE49-F238E27FC236}">
                <a16:creationId xmlns:a16="http://schemas.microsoft.com/office/drawing/2014/main" id="{3EB57E5C-EE95-BDE9-1B99-1ADF8EBDEFB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34349" y="167886"/>
            <a:ext cx="3048537" cy="4373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矩形 3">
            <a:extLst>
              <a:ext uri="{FF2B5EF4-FFF2-40B4-BE49-F238E27FC236}">
                <a16:creationId xmlns:a16="http://schemas.microsoft.com/office/drawing/2014/main" id="{7D526777-213E-1ABC-FA80-6D383E58B4C9}"/>
              </a:ext>
            </a:extLst>
          </p:cNvPr>
          <p:cNvSpPr/>
          <p:nvPr/>
        </p:nvSpPr>
        <p:spPr>
          <a:xfrm>
            <a:off x="874718" y="2994121"/>
            <a:ext cx="7782394" cy="869758"/>
          </a:xfrm>
          <a:prstGeom prst="rect">
            <a:avLst/>
          </a:prstGeom>
          <a:noFill/>
          <a:ln w="5715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F420A221-9A64-1BFA-311D-EDC95504A41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29122" y="4778888"/>
            <a:ext cx="6451600" cy="2032000"/>
          </a:xfrm>
          <a:prstGeom prst="rect">
            <a:avLst/>
          </a:prstGeom>
        </p:spPr>
      </p:pic>
      <p:sp>
        <p:nvSpPr>
          <p:cNvPr id="6" name="下箭头 5">
            <a:extLst>
              <a:ext uri="{FF2B5EF4-FFF2-40B4-BE49-F238E27FC236}">
                <a16:creationId xmlns:a16="http://schemas.microsoft.com/office/drawing/2014/main" id="{CB9E9FD1-9CE0-81A2-5553-7961ED6FDA72}"/>
              </a:ext>
            </a:extLst>
          </p:cNvPr>
          <p:cNvSpPr/>
          <p:nvPr/>
        </p:nvSpPr>
        <p:spPr>
          <a:xfrm>
            <a:off x="4450117" y="3993029"/>
            <a:ext cx="395854" cy="1006483"/>
          </a:xfrm>
          <a:prstGeom prst="downArrow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0E76D910-6C3D-46B4-72A1-DB48A13DE1AC}"/>
              </a:ext>
            </a:extLst>
          </p:cNvPr>
          <p:cNvSpPr/>
          <p:nvPr/>
        </p:nvSpPr>
        <p:spPr>
          <a:xfrm>
            <a:off x="5834349" y="5605152"/>
            <a:ext cx="1587729" cy="724395"/>
          </a:xfrm>
          <a:prstGeom prst="rect">
            <a:avLst/>
          </a:prstGeom>
          <a:noFill/>
          <a:ln w="5715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A082D08D-B0C9-8B39-ECDE-035F8DA63DC5}"/>
              </a:ext>
            </a:extLst>
          </p:cNvPr>
          <p:cNvSpPr txBox="1"/>
          <p:nvPr/>
        </p:nvSpPr>
        <p:spPr>
          <a:xfrm>
            <a:off x="6851904" y="4537847"/>
            <a:ext cx="2030981" cy="923330"/>
          </a:xfrm>
          <a:prstGeom prst="rect">
            <a:avLst/>
          </a:prstGeom>
          <a:ln>
            <a:solidFill>
              <a:schemeClr val="accent2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" altLang="zh-CN" b="1" dirty="0">
                <a:solidFill>
                  <a:srgbClr val="C00000"/>
                </a:solidFill>
              </a:rPr>
              <a:t>Considered as selfish (egoism) actions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9B25038-E3F9-6AA1-3E95-75CA26825F2C}"/>
              </a:ext>
            </a:extLst>
          </p:cNvPr>
          <p:cNvSpPr txBox="1"/>
          <p:nvPr/>
        </p:nvSpPr>
        <p:spPr>
          <a:xfrm>
            <a:off x="204438" y="4825665"/>
            <a:ext cx="2030981" cy="646331"/>
          </a:xfrm>
          <a:prstGeom prst="rect">
            <a:avLst/>
          </a:prstGeom>
          <a:ln>
            <a:solidFill>
              <a:schemeClr val="accent2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" altLang="zh-CN" b="1" dirty="0">
                <a:solidFill>
                  <a:srgbClr val="C00000"/>
                </a:solidFill>
              </a:rPr>
              <a:t>Considered as altruism actions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0C5CCCCD-9203-42BE-BB9B-B848A52C8F31}"/>
              </a:ext>
            </a:extLst>
          </p:cNvPr>
          <p:cNvSpPr/>
          <p:nvPr/>
        </p:nvSpPr>
        <p:spPr>
          <a:xfrm>
            <a:off x="2862388" y="6115792"/>
            <a:ext cx="1412729" cy="574322"/>
          </a:xfrm>
          <a:prstGeom prst="rect">
            <a:avLst/>
          </a:prstGeom>
          <a:noFill/>
          <a:ln w="5715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2" name="下箭头 11">
            <a:extLst>
              <a:ext uri="{FF2B5EF4-FFF2-40B4-BE49-F238E27FC236}">
                <a16:creationId xmlns:a16="http://schemas.microsoft.com/office/drawing/2014/main" id="{61B3ECDF-1FE8-E48D-2938-29F9343D4653}"/>
              </a:ext>
            </a:extLst>
          </p:cNvPr>
          <p:cNvSpPr/>
          <p:nvPr/>
        </p:nvSpPr>
        <p:spPr>
          <a:xfrm rot="13757963">
            <a:off x="7782795" y="5348085"/>
            <a:ext cx="395854" cy="1006483"/>
          </a:xfrm>
          <a:prstGeom prst="downArrow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3" name="下箭头 12">
            <a:extLst>
              <a:ext uri="{FF2B5EF4-FFF2-40B4-BE49-F238E27FC236}">
                <a16:creationId xmlns:a16="http://schemas.microsoft.com/office/drawing/2014/main" id="{B50E7864-EB78-5A6C-3988-8E343A8B3D08}"/>
              </a:ext>
            </a:extLst>
          </p:cNvPr>
          <p:cNvSpPr/>
          <p:nvPr/>
        </p:nvSpPr>
        <p:spPr>
          <a:xfrm rot="7684495">
            <a:off x="2447380" y="5163696"/>
            <a:ext cx="395854" cy="1006483"/>
          </a:xfrm>
          <a:prstGeom prst="downArrow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72875701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F0AB50-BCDF-3C20-73F1-765A02D75E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FC9F62E2-AE0D-6F0D-D471-3D1EC4CACE98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261114" y="167886"/>
            <a:ext cx="6590790" cy="480131"/>
          </a:xfrm>
        </p:spPr>
        <p:txBody>
          <a:bodyPr/>
          <a:lstStyle/>
          <a:p>
            <a:r>
              <a:rPr lang="en-US" altLang="zh-CN" sz="2800" dirty="0"/>
              <a:t>Results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6ACC2DB2-EA37-8D4A-B6B2-898CF1A9D6B5}"/>
              </a:ext>
            </a:extLst>
          </p:cNvPr>
          <p:cNvSpPr txBox="1"/>
          <p:nvPr/>
        </p:nvSpPr>
        <p:spPr>
          <a:xfrm>
            <a:off x="261114" y="1010447"/>
            <a:ext cx="726366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000" b="1" i="1" dirty="0">
                <a:solidFill>
                  <a:srgbClr val="082E72"/>
                </a:solidFill>
              </a:rPr>
              <a:t>Key Finding: Two Distinct Archetypes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88AF138F-CA16-66D6-0FFF-EBE138B96813}"/>
              </a:ext>
            </a:extLst>
          </p:cNvPr>
          <p:cNvSpPr txBox="1"/>
          <p:nvPr/>
        </p:nvSpPr>
        <p:spPr>
          <a:xfrm>
            <a:off x="282719" y="1460591"/>
            <a:ext cx="3987692" cy="48013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altLang="zh-CN" b="1" dirty="0"/>
              <a:t>Discovery:</a:t>
            </a:r>
            <a:r>
              <a:rPr lang="en" altLang="zh-CN" dirty="0"/>
              <a:t> A fundamental bifurcation in social tendencies.</a:t>
            </a:r>
          </a:p>
          <a:p>
            <a:endParaRPr lang="en" altLang="zh-CN" dirty="0"/>
          </a:p>
          <a:p>
            <a:r>
              <a:rPr lang="en" altLang="zh-CN" b="1" dirty="0"/>
              <a:t>Two Archetypes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" altLang="zh-CN" b="1" dirty="0"/>
              <a:t>Adaptive Egoists</a:t>
            </a:r>
            <a:r>
              <a:rPr lang="en" altLang="zh-CN" dirty="0"/>
              <a:t> (e.g., o1-mini, o3-mini, Qwen2.5)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" altLang="zh-CN" dirty="0"/>
              <a:t>Default to self-interest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" altLang="zh-CN" dirty="0"/>
              <a:t>Sub-optimal macro outcomes (Low </a:t>
            </a:r>
            <a:r>
              <a:rPr lang="en" altLang="zh-CN" dirty="0" err="1"/>
              <a:t>PoA</a:t>
            </a:r>
            <a:r>
              <a:rPr lang="en" altLang="zh-CN" dirty="0"/>
              <a:t>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" altLang="zh-CN" b="1" dirty="0"/>
              <a:t>Altruistic Optimizers</a:t>
            </a:r>
            <a:r>
              <a:rPr lang="en" altLang="zh-CN" dirty="0"/>
              <a:t> (e.g., Gemini-2.5-pro, Deepseek-R1)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" altLang="zh-CN" dirty="0"/>
              <a:t>Innate altruistic logic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" altLang="zh-CN" dirty="0"/>
              <a:t>Consistently achieve system optimality (</a:t>
            </a:r>
            <a:r>
              <a:rPr lang="en" altLang="zh-CN" dirty="0" err="1"/>
              <a:t>PoA</a:t>
            </a:r>
            <a:r>
              <a:rPr lang="en" altLang="zh-CN" dirty="0"/>
              <a:t> ≈ 1.0) regardless of social interaction.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" altLang="zh-CN" b="1" dirty="0"/>
          </a:p>
        </p:txBody>
      </p:sp>
      <p:pic>
        <p:nvPicPr>
          <p:cNvPr id="3" name="Picture 2" descr="Home | CUHK-Shenzhen">
            <a:extLst>
              <a:ext uri="{FF2B5EF4-FFF2-40B4-BE49-F238E27FC236}">
                <a16:creationId xmlns:a16="http://schemas.microsoft.com/office/drawing/2014/main" id="{D98EE7C0-0B99-3E6A-7776-F43C171ABF1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34349" y="167886"/>
            <a:ext cx="3048537" cy="4373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921452D4-0D0A-DA28-8F30-40728ADE6C42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3991717" y="2129391"/>
            <a:ext cx="4986029" cy="39081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805642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CCF9E6-8480-B10E-23B4-86B88BC775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35898DE4-E23B-ADBD-06CD-B86910D808AA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261114" y="167886"/>
            <a:ext cx="6590790" cy="480131"/>
          </a:xfrm>
        </p:spPr>
        <p:txBody>
          <a:bodyPr/>
          <a:lstStyle/>
          <a:p>
            <a:r>
              <a:rPr lang="en-US" altLang="zh-CN" sz="2800" dirty="0"/>
              <a:t>Results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0C23D637-EDB7-2EA0-49BB-FEE43AEA9738}"/>
              </a:ext>
            </a:extLst>
          </p:cNvPr>
          <p:cNvSpPr txBox="1"/>
          <p:nvPr/>
        </p:nvSpPr>
        <p:spPr>
          <a:xfrm>
            <a:off x="261114" y="1010447"/>
            <a:ext cx="726366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000" b="1" i="1" dirty="0">
                <a:solidFill>
                  <a:srgbClr val="082E72"/>
                </a:solidFill>
              </a:rPr>
              <a:t>First Archetype: Adaptive Egoists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939F0AF8-D650-2399-882B-89FBE3BA7ED9}"/>
              </a:ext>
            </a:extLst>
          </p:cNvPr>
          <p:cNvSpPr txBox="1"/>
          <p:nvPr/>
        </p:nvSpPr>
        <p:spPr>
          <a:xfrm>
            <a:off x="282718" y="1460591"/>
            <a:ext cx="8291265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altLang="zh-CN" b="1" dirty="0"/>
              <a:t>Behavior:</a:t>
            </a:r>
            <a:endParaRPr lang="en" altLang="zh-C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" altLang="zh-CN" b="1" dirty="0"/>
              <a:t>Default:</a:t>
            </a:r>
            <a:r>
              <a:rPr lang="en" altLang="zh-CN" dirty="0"/>
              <a:t> Prioritize personal utility maximization.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" altLang="zh-CN" b="1" dirty="0"/>
              <a:t>Outcome:</a:t>
            </a:r>
            <a:r>
              <a:rPr lang="en" altLang="zh-CN" dirty="0"/>
              <a:t> High inequality (Gini &gt; 0.2) and overcrowding.</a:t>
            </a:r>
          </a:p>
          <a:p>
            <a:endParaRPr lang="en" altLang="zh-CN" b="1" dirty="0"/>
          </a:p>
          <a:p>
            <a:r>
              <a:rPr lang="en" altLang="zh-CN" b="1" dirty="0"/>
              <a:t>After adding social interaction (Message Board):</a:t>
            </a:r>
            <a:endParaRPr lang="en" altLang="zh-C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" altLang="zh-CN" b="1" dirty="0"/>
              <a:t>Highly Sensitive:</a:t>
            </a:r>
            <a:r>
              <a:rPr lang="en" altLang="zh-CN" dirty="0"/>
              <a:t> Performance improves drastically with a Message Board.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" altLang="zh-CN" i="1" dirty="0"/>
              <a:t>Example:</a:t>
            </a:r>
            <a:r>
              <a:rPr lang="en" altLang="zh-CN" dirty="0"/>
              <a:t> o1-mini's Altruistic Actions increased 9x with communication.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" altLang="zh-CN" b="1" dirty="0"/>
          </a:p>
        </p:txBody>
      </p:sp>
      <p:pic>
        <p:nvPicPr>
          <p:cNvPr id="3" name="Picture 2" descr="Home | CUHK-Shenzhen">
            <a:extLst>
              <a:ext uri="{FF2B5EF4-FFF2-40B4-BE49-F238E27FC236}">
                <a16:creationId xmlns:a16="http://schemas.microsoft.com/office/drawing/2014/main" id="{ADB35659-95D2-7153-A2F3-1AD9E954CE2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34349" y="167886"/>
            <a:ext cx="3048537" cy="4373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文本框 10">
            <a:extLst>
              <a:ext uri="{FF2B5EF4-FFF2-40B4-BE49-F238E27FC236}">
                <a16:creationId xmlns:a16="http://schemas.microsoft.com/office/drawing/2014/main" id="{6652C9D4-3909-E83B-0FB8-6ECC4BD0C4AB}"/>
              </a:ext>
            </a:extLst>
          </p:cNvPr>
          <p:cNvSpPr txBox="1"/>
          <p:nvPr/>
        </p:nvSpPr>
        <p:spPr>
          <a:xfrm>
            <a:off x="244867" y="3807706"/>
            <a:ext cx="321968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000" b="1" i="1" dirty="0">
                <a:solidFill>
                  <a:srgbClr val="082E72"/>
                </a:solidFill>
              </a:rPr>
              <a:t>Without Message Board: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7008625A-C425-54A1-34D4-EB0C27E9AB16}"/>
              </a:ext>
            </a:extLst>
          </p:cNvPr>
          <p:cNvSpPr txBox="1"/>
          <p:nvPr/>
        </p:nvSpPr>
        <p:spPr>
          <a:xfrm>
            <a:off x="4596648" y="3796640"/>
            <a:ext cx="321968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000" b="1" i="1" dirty="0">
                <a:solidFill>
                  <a:srgbClr val="082E72"/>
                </a:solidFill>
              </a:rPr>
              <a:t>With Message Board: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03CB2358-2D05-F873-D41D-EAAC24EDF13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2321" y="4306002"/>
            <a:ext cx="4774178" cy="1269538"/>
          </a:xfrm>
          <a:prstGeom prst="rect">
            <a:avLst/>
          </a:prstGeom>
        </p:spPr>
      </p:pic>
      <p:pic>
        <p:nvPicPr>
          <p:cNvPr id="13" name="图片 12">
            <a:extLst>
              <a:ext uri="{FF2B5EF4-FFF2-40B4-BE49-F238E27FC236}">
                <a16:creationId xmlns:a16="http://schemas.microsoft.com/office/drawing/2014/main" id="{16EE2B9F-82DB-74DA-7F6C-0B907FD6B4E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49554" y="4306002"/>
            <a:ext cx="4474486" cy="801401"/>
          </a:xfrm>
          <a:prstGeom prst="rect">
            <a:avLst/>
          </a:prstGeom>
        </p:spPr>
      </p:pic>
      <p:pic>
        <p:nvPicPr>
          <p:cNvPr id="14" name="图片 13">
            <a:extLst>
              <a:ext uri="{FF2B5EF4-FFF2-40B4-BE49-F238E27FC236}">
                <a16:creationId xmlns:a16="http://schemas.microsoft.com/office/drawing/2014/main" id="{04F30103-834B-A396-F7A5-A2154AC02A2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57750" y="5162029"/>
            <a:ext cx="4004699" cy="414604"/>
          </a:xfrm>
          <a:prstGeom prst="rect">
            <a:avLst/>
          </a:prstGeom>
        </p:spPr>
      </p:pic>
      <p:sp>
        <p:nvSpPr>
          <p:cNvPr id="16" name="矩形 15">
            <a:extLst>
              <a:ext uri="{FF2B5EF4-FFF2-40B4-BE49-F238E27FC236}">
                <a16:creationId xmlns:a16="http://schemas.microsoft.com/office/drawing/2014/main" id="{AD5B5E7E-BC34-951D-E085-ECD49ACF046E}"/>
              </a:ext>
            </a:extLst>
          </p:cNvPr>
          <p:cNvSpPr/>
          <p:nvPr/>
        </p:nvSpPr>
        <p:spPr>
          <a:xfrm>
            <a:off x="4957751" y="5123159"/>
            <a:ext cx="488190" cy="521332"/>
          </a:xfrm>
          <a:prstGeom prst="rect">
            <a:avLst/>
          </a:prstGeom>
          <a:noFill/>
          <a:ln w="1905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CC56DE8D-FF65-7BF7-8BDA-3ACEE16A2C1D}"/>
              </a:ext>
            </a:extLst>
          </p:cNvPr>
          <p:cNvSpPr txBox="1"/>
          <p:nvPr/>
        </p:nvSpPr>
        <p:spPr>
          <a:xfrm>
            <a:off x="3172937" y="5650171"/>
            <a:ext cx="1505093" cy="584775"/>
          </a:xfrm>
          <a:prstGeom prst="rect">
            <a:avLst/>
          </a:prstGeom>
          <a:ln>
            <a:solidFill>
              <a:schemeClr val="accent2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" altLang="zh-CN" sz="1600" b="1" dirty="0" err="1">
                <a:solidFill>
                  <a:srgbClr val="C00000"/>
                </a:solidFill>
              </a:rPr>
              <a:t>PoA</a:t>
            </a:r>
            <a:r>
              <a:rPr lang="en" altLang="zh-CN" sz="1600" b="1" dirty="0">
                <a:solidFill>
                  <a:srgbClr val="C00000"/>
                </a:solidFill>
              </a:rPr>
              <a:t> increase</a:t>
            </a:r>
          </a:p>
          <a:p>
            <a:r>
              <a:rPr lang="en" altLang="zh-CN" sz="1600" dirty="0">
                <a:solidFill>
                  <a:srgbClr val="C00000"/>
                </a:solidFill>
              </a:rPr>
              <a:t>More optimal!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5B4DE4BA-BB7D-5630-AA7A-E6DB2E89F153}"/>
              </a:ext>
            </a:extLst>
          </p:cNvPr>
          <p:cNvSpPr/>
          <p:nvPr/>
        </p:nvSpPr>
        <p:spPr>
          <a:xfrm>
            <a:off x="5445941" y="5123158"/>
            <a:ext cx="488190" cy="521332"/>
          </a:xfrm>
          <a:prstGeom prst="rect">
            <a:avLst/>
          </a:prstGeom>
          <a:noFill/>
          <a:ln w="1905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F8487E0F-6C43-0270-CE73-6F86EE2FB01C}"/>
              </a:ext>
            </a:extLst>
          </p:cNvPr>
          <p:cNvSpPr txBox="1"/>
          <p:nvPr/>
        </p:nvSpPr>
        <p:spPr>
          <a:xfrm>
            <a:off x="4624704" y="5847553"/>
            <a:ext cx="1796088" cy="584775"/>
          </a:xfrm>
          <a:prstGeom prst="rect">
            <a:avLst/>
          </a:prstGeom>
          <a:ln>
            <a:solidFill>
              <a:schemeClr val="accent2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" altLang="zh-CN" sz="1600" b="1" dirty="0">
                <a:solidFill>
                  <a:srgbClr val="C00000"/>
                </a:solidFill>
              </a:rPr>
              <a:t>Gini decrease</a:t>
            </a:r>
          </a:p>
          <a:p>
            <a:r>
              <a:rPr lang="en" altLang="zh-CN" sz="1600" dirty="0">
                <a:solidFill>
                  <a:srgbClr val="C00000"/>
                </a:solidFill>
              </a:rPr>
              <a:t>Less segregation!</a:t>
            </a:r>
          </a:p>
        </p:txBody>
      </p:sp>
      <p:sp>
        <p:nvSpPr>
          <p:cNvPr id="20" name="下箭头 19">
            <a:extLst>
              <a:ext uri="{FF2B5EF4-FFF2-40B4-BE49-F238E27FC236}">
                <a16:creationId xmlns:a16="http://schemas.microsoft.com/office/drawing/2014/main" id="{EDD2BDB5-48F4-F8E9-F491-D2A2EFC6B78F}"/>
              </a:ext>
            </a:extLst>
          </p:cNvPr>
          <p:cNvSpPr/>
          <p:nvPr/>
        </p:nvSpPr>
        <p:spPr>
          <a:xfrm rot="3971104">
            <a:off x="4688430" y="5392811"/>
            <a:ext cx="183631" cy="534872"/>
          </a:xfrm>
          <a:prstGeom prst="downArrow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1" name="下箭头 20">
            <a:extLst>
              <a:ext uri="{FF2B5EF4-FFF2-40B4-BE49-F238E27FC236}">
                <a16:creationId xmlns:a16="http://schemas.microsoft.com/office/drawing/2014/main" id="{E173B697-C6C3-B3A3-7D45-49D6E2FC22F3}"/>
              </a:ext>
            </a:extLst>
          </p:cNvPr>
          <p:cNvSpPr/>
          <p:nvPr/>
        </p:nvSpPr>
        <p:spPr>
          <a:xfrm rot="1860358">
            <a:off x="5425377" y="5561999"/>
            <a:ext cx="183631" cy="424033"/>
          </a:xfrm>
          <a:prstGeom prst="downArrow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190B8B8-B12D-13F9-A486-D9458CE29AE2}"/>
              </a:ext>
            </a:extLst>
          </p:cNvPr>
          <p:cNvSpPr txBox="1"/>
          <p:nvPr/>
        </p:nvSpPr>
        <p:spPr>
          <a:xfrm>
            <a:off x="6513752" y="5719974"/>
            <a:ext cx="1796088" cy="584775"/>
          </a:xfrm>
          <a:prstGeom prst="rect">
            <a:avLst/>
          </a:prstGeom>
          <a:ln>
            <a:solidFill>
              <a:schemeClr val="accent2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" altLang="zh-CN" sz="1600" b="1" dirty="0">
                <a:solidFill>
                  <a:srgbClr val="C00000"/>
                </a:solidFill>
              </a:rPr>
              <a:t>More Altruistic Actions</a:t>
            </a:r>
            <a:endParaRPr lang="en" altLang="zh-CN" sz="1600" dirty="0">
              <a:solidFill>
                <a:srgbClr val="C00000"/>
              </a:solidFill>
            </a:endParaRPr>
          </a:p>
        </p:txBody>
      </p:sp>
      <p:sp>
        <p:nvSpPr>
          <p:cNvPr id="23" name="下箭头 22">
            <a:extLst>
              <a:ext uri="{FF2B5EF4-FFF2-40B4-BE49-F238E27FC236}">
                <a16:creationId xmlns:a16="http://schemas.microsoft.com/office/drawing/2014/main" id="{3836C9C0-AC3E-F822-6121-05C186051595}"/>
              </a:ext>
            </a:extLst>
          </p:cNvPr>
          <p:cNvSpPr/>
          <p:nvPr/>
        </p:nvSpPr>
        <p:spPr>
          <a:xfrm rot="18368657">
            <a:off x="6323768" y="5552975"/>
            <a:ext cx="183631" cy="383737"/>
          </a:xfrm>
          <a:prstGeom prst="downArrow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458B9CF4-8B75-9801-D5BA-7B2AC5AD3350}"/>
              </a:ext>
            </a:extLst>
          </p:cNvPr>
          <p:cNvSpPr/>
          <p:nvPr/>
        </p:nvSpPr>
        <p:spPr>
          <a:xfrm>
            <a:off x="5934131" y="5123157"/>
            <a:ext cx="488190" cy="521332"/>
          </a:xfrm>
          <a:prstGeom prst="rect">
            <a:avLst/>
          </a:prstGeom>
          <a:noFill/>
          <a:ln w="1905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BD5B1B6D-66D2-E04D-8C0D-012ECFF879BC}"/>
              </a:ext>
            </a:extLst>
          </p:cNvPr>
          <p:cNvSpPr txBox="1"/>
          <p:nvPr/>
        </p:nvSpPr>
        <p:spPr>
          <a:xfrm>
            <a:off x="6974515" y="6273225"/>
            <a:ext cx="1796088" cy="584775"/>
          </a:xfrm>
          <a:prstGeom prst="rect">
            <a:avLst/>
          </a:prstGeom>
          <a:ln>
            <a:solidFill>
              <a:schemeClr val="accent2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" altLang="zh-CN" sz="1600" b="1" dirty="0">
                <a:solidFill>
                  <a:srgbClr val="C00000"/>
                </a:solidFill>
              </a:rPr>
              <a:t>Less Egoistic Actions</a:t>
            </a:r>
            <a:endParaRPr lang="en" altLang="zh-CN" sz="1600" dirty="0">
              <a:solidFill>
                <a:srgbClr val="C00000"/>
              </a:solidFill>
            </a:endParaRP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58F56ABB-DFEB-04CA-ABCC-F8A8939183EE}"/>
              </a:ext>
            </a:extLst>
          </p:cNvPr>
          <p:cNvSpPr/>
          <p:nvPr/>
        </p:nvSpPr>
        <p:spPr>
          <a:xfrm>
            <a:off x="7479897" y="5108665"/>
            <a:ext cx="488190" cy="521332"/>
          </a:xfrm>
          <a:prstGeom prst="rect">
            <a:avLst/>
          </a:prstGeom>
          <a:noFill/>
          <a:ln w="1905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8" name="下箭头 27">
            <a:extLst>
              <a:ext uri="{FF2B5EF4-FFF2-40B4-BE49-F238E27FC236}">
                <a16:creationId xmlns:a16="http://schemas.microsoft.com/office/drawing/2014/main" id="{F05D2FCA-A6E1-FB41-EEC7-8816F34F9941}"/>
              </a:ext>
            </a:extLst>
          </p:cNvPr>
          <p:cNvSpPr/>
          <p:nvPr/>
        </p:nvSpPr>
        <p:spPr>
          <a:xfrm rot="19600313">
            <a:off x="8116547" y="5502856"/>
            <a:ext cx="183631" cy="943108"/>
          </a:xfrm>
          <a:prstGeom prst="downArrow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1640436F-B2A3-2D24-90CF-8C49A539FBAA}"/>
              </a:ext>
            </a:extLst>
          </p:cNvPr>
          <p:cNvSpPr txBox="1"/>
          <p:nvPr/>
        </p:nvSpPr>
        <p:spPr>
          <a:xfrm>
            <a:off x="212573" y="5645500"/>
            <a:ext cx="2508078" cy="1077218"/>
          </a:xfrm>
          <a:prstGeom prst="rect">
            <a:avLst/>
          </a:prstGeom>
          <a:ln>
            <a:solidFill>
              <a:schemeClr val="accent2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" altLang="zh-CN" sz="1600" b="1" dirty="0">
                <a:solidFill>
                  <a:srgbClr val="C00000"/>
                </a:solidFill>
              </a:rPr>
              <a:t>Default:</a:t>
            </a:r>
          </a:p>
          <a:p>
            <a:r>
              <a:rPr lang="en" altLang="zh-CN" sz="1600" dirty="0" err="1">
                <a:solidFill>
                  <a:srgbClr val="C00000"/>
                </a:solidFill>
              </a:rPr>
              <a:t>PoA</a:t>
            </a:r>
            <a:r>
              <a:rPr lang="en" altLang="zh-CN" sz="1600" dirty="0">
                <a:solidFill>
                  <a:srgbClr val="C00000"/>
                </a:solidFill>
              </a:rPr>
              <a:t> not good, High Gini index, less Altruistic actions</a:t>
            </a:r>
          </a:p>
        </p:txBody>
      </p:sp>
    </p:spTree>
    <p:extLst>
      <p:ext uri="{BB962C8B-B14F-4D97-AF65-F5344CB8AC3E}">
        <p14:creationId xmlns:p14="http://schemas.microsoft.com/office/powerpoint/2010/main" val="67237013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4CF9A0-9230-AF5B-C7FE-C456B9B65B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315D0EA2-DD8C-5160-F9BE-1BBE4270E2A4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261114" y="167886"/>
            <a:ext cx="6590790" cy="480131"/>
          </a:xfrm>
        </p:spPr>
        <p:txBody>
          <a:bodyPr/>
          <a:lstStyle/>
          <a:p>
            <a:r>
              <a:rPr lang="en-US" altLang="zh-CN" sz="2800" dirty="0"/>
              <a:t>Results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09849396-11B9-8D30-A191-0C1C3FCED330}"/>
              </a:ext>
            </a:extLst>
          </p:cNvPr>
          <p:cNvSpPr txBox="1"/>
          <p:nvPr/>
        </p:nvSpPr>
        <p:spPr>
          <a:xfrm>
            <a:off x="261114" y="1010447"/>
            <a:ext cx="726366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000" b="1" i="1" dirty="0">
                <a:solidFill>
                  <a:srgbClr val="082E72"/>
                </a:solidFill>
              </a:rPr>
              <a:t>First Archetype: Adaptive Egoists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1D2E4B41-8C61-89A2-FC4E-7D5B3241D829}"/>
              </a:ext>
            </a:extLst>
          </p:cNvPr>
          <p:cNvSpPr txBox="1"/>
          <p:nvPr/>
        </p:nvSpPr>
        <p:spPr>
          <a:xfrm>
            <a:off x="282718" y="1460591"/>
            <a:ext cx="8291265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altLang="zh-CN" b="1" dirty="0"/>
              <a:t>Behavior:</a:t>
            </a:r>
            <a:endParaRPr lang="en" altLang="zh-C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" altLang="zh-CN" b="1" dirty="0"/>
              <a:t>Default:</a:t>
            </a:r>
            <a:r>
              <a:rPr lang="en" altLang="zh-CN" dirty="0"/>
              <a:t> Prioritize personal utility maximization.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" altLang="zh-CN" b="1" dirty="0"/>
              <a:t>Outcome:</a:t>
            </a:r>
            <a:r>
              <a:rPr lang="en" altLang="zh-CN" dirty="0"/>
              <a:t> High inequality (Gini &gt; 0.2) and overcrowding.</a:t>
            </a:r>
          </a:p>
          <a:p>
            <a:endParaRPr lang="en" altLang="zh-CN" b="1" dirty="0"/>
          </a:p>
          <a:p>
            <a:r>
              <a:rPr lang="en" altLang="zh-CN" b="1" dirty="0"/>
              <a:t>After adding social interaction (Message Board):</a:t>
            </a:r>
            <a:endParaRPr lang="en" altLang="zh-C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" altLang="zh-CN" b="1" dirty="0"/>
              <a:t>Highly Sensitive:</a:t>
            </a:r>
            <a:r>
              <a:rPr lang="en" altLang="zh-CN" dirty="0"/>
              <a:t> Performance improves drastically with a Message Board.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" altLang="zh-CN" i="1" dirty="0"/>
              <a:t>Example:</a:t>
            </a:r>
            <a:r>
              <a:rPr lang="en" altLang="zh-CN" dirty="0"/>
              <a:t> o1-mini's Altruistic Actions increased 9x with communication.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" altLang="zh-CN" b="1" dirty="0"/>
          </a:p>
        </p:txBody>
      </p:sp>
      <p:pic>
        <p:nvPicPr>
          <p:cNvPr id="3" name="Picture 2" descr="Home | CUHK-Shenzhen">
            <a:extLst>
              <a:ext uri="{FF2B5EF4-FFF2-40B4-BE49-F238E27FC236}">
                <a16:creationId xmlns:a16="http://schemas.microsoft.com/office/drawing/2014/main" id="{417E7E5C-29DF-FCF0-24F9-03358AF45BD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34349" y="167886"/>
            <a:ext cx="3048537" cy="4373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DBBF260C-E4FA-8EAE-A580-9079868AE84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2909" y="3944634"/>
            <a:ext cx="3403600" cy="1270000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AD43B7C2-CFFA-68E8-4BFA-49985A6A8F8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1114" y="5187153"/>
            <a:ext cx="3327400" cy="1320800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275B51A0-33ED-DC2D-85DC-9E92AF57875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72000" y="4002794"/>
            <a:ext cx="3421888" cy="1092922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A4BB9A77-74A1-6A49-6C05-A52D2B6A9B31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679188" y="5186180"/>
            <a:ext cx="3314700" cy="1243012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F4F977C2-0457-BA6B-53BF-F3A3B4E32028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664714" y="4116277"/>
            <a:ext cx="800100" cy="2273300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41505527-77EB-A924-C276-F792E14D5EAE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126474" y="4029686"/>
            <a:ext cx="914400" cy="2413000"/>
          </a:xfrm>
          <a:prstGeom prst="rect">
            <a:avLst/>
          </a:prstGeom>
        </p:spPr>
      </p:pic>
      <p:sp>
        <p:nvSpPr>
          <p:cNvPr id="11" name="文本框 10">
            <a:extLst>
              <a:ext uri="{FF2B5EF4-FFF2-40B4-BE49-F238E27FC236}">
                <a16:creationId xmlns:a16="http://schemas.microsoft.com/office/drawing/2014/main" id="{B2507990-DACA-F893-C45E-ED42D9D45DC8}"/>
              </a:ext>
            </a:extLst>
          </p:cNvPr>
          <p:cNvSpPr txBox="1"/>
          <p:nvPr/>
        </p:nvSpPr>
        <p:spPr>
          <a:xfrm>
            <a:off x="244867" y="3629576"/>
            <a:ext cx="321968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000" b="1" i="1" dirty="0">
                <a:solidFill>
                  <a:srgbClr val="082E72"/>
                </a:solidFill>
              </a:rPr>
              <a:t>Without Message Board: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5BDE2E22-DEE6-F588-0542-F4E547B432C6}"/>
              </a:ext>
            </a:extLst>
          </p:cNvPr>
          <p:cNvSpPr txBox="1"/>
          <p:nvPr/>
        </p:nvSpPr>
        <p:spPr>
          <a:xfrm>
            <a:off x="4596648" y="3618510"/>
            <a:ext cx="321968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000" b="1" i="1" dirty="0">
                <a:solidFill>
                  <a:srgbClr val="082E72"/>
                </a:solidFill>
              </a:rPr>
              <a:t>With Message Board:</a:t>
            </a:r>
          </a:p>
        </p:txBody>
      </p:sp>
    </p:spTree>
    <p:extLst>
      <p:ext uri="{BB962C8B-B14F-4D97-AF65-F5344CB8AC3E}">
        <p14:creationId xmlns:p14="http://schemas.microsoft.com/office/powerpoint/2010/main" val="91124057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0CCF02-95E9-1D7E-F7FF-1A36C30E42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BB3A0631-6DC2-0002-D9F1-3B105D49B60A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261114" y="167886"/>
            <a:ext cx="6590790" cy="480131"/>
          </a:xfrm>
        </p:spPr>
        <p:txBody>
          <a:bodyPr/>
          <a:lstStyle/>
          <a:p>
            <a:r>
              <a:rPr lang="en-US" altLang="zh-CN" sz="2800" dirty="0"/>
              <a:t>Results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421DC556-10DA-9DC6-7302-5D7D1FBE4A01}"/>
              </a:ext>
            </a:extLst>
          </p:cNvPr>
          <p:cNvSpPr txBox="1"/>
          <p:nvPr/>
        </p:nvSpPr>
        <p:spPr>
          <a:xfrm>
            <a:off x="261114" y="1010447"/>
            <a:ext cx="726366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000" b="1" i="1" dirty="0">
                <a:solidFill>
                  <a:srgbClr val="082E72"/>
                </a:solidFill>
              </a:rPr>
              <a:t>Second Archetype: Altruistic Optimizers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5B507F5C-05C9-9427-C692-99CECD256C59}"/>
              </a:ext>
            </a:extLst>
          </p:cNvPr>
          <p:cNvSpPr txBox="1"/>
          <p:nvPr/>
        </p:nvSpPr>
        <p:spPr>
          <a:xfrm>
            <a:off x="282718" y="1460591"/>
            <a:ext cx="8291265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altLang="zh-CN" b="1" dirty="0"/>
              <a:t>Behavior:</a:t>
            </a:r>
            <a:endParaRPr lang="en" altLang="zh-C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" altLang="zh-CN" b="1" dirty="0"/>
              <a:t>Default:</a:t>
            </a:r>
            <a:r>
              <a:rPr lang="en" altLang="zh-CN" dirty="0"/>
              <a:t> System Awareness &amp; Goal Synthesis.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" altLang="zh-CN" b="1" dirty="0"/>
              <a:t>Strong Reciprocity:</a:t>
            </a:r>
            <a:r>
              <a:rPr lang="en" altLang="zh-CN" dirty="0"/>
              <a:t> Willing to incur personal costs for collective gain.</a:t>
            </a:r>
          </a:p>
          <a:p>
            <a:endParaRPr lang="en" altLang="zh-CN" b="1" dirty="0"/>
          </a:p>
          <a:p>
            <a:r>
              <a:rPr lang="en" altLang="zh-CN" b="1" dirty="0"/>
              <a:t>Evidence:</a:t>
            </a:r>
            <a:endParaRPr lang="en" altLang="zh-C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" altLang="zh-CN" dirty="0"/>
              <a:t>Achieve </a:t>
            </a:r>
            <a:r>
              <a:rPr lang="en" altLang="zh-CN" b="1" dirty="0">
                <a:solidFill>
                  <a:srgbClr val="C00000"/>
                </a:solidFill>
              </a:rPr>
              <a:t>perfect equilibrium </a:t>
            </a:r>
            <a:r>
              <a:rPr lang="en" altLang="zh-CN" dirty="0"/>
              <a:t>(</a:t>
            </a:r>
            <a:r>
              <a:rPr lang="en" altLang="zh-CN" dirty="0" err="1"/>
              <a:t>PoA</a:t>
            </a:r>
            <a:r>
              <a:rPr lang="en" altLang="zh-CN" dirty="0"/>
              <a:t> = 1.0) even </a:t>
            </a:r>
            <a:r>
              <a:rPr lang="en" altLang="zh-CN" b="1" dirty="0"/>
              <a:t>without communication</a:t>
            </a:r>
            <a:r>
              <a:rPr lang="en" altLang="zh-CN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" altLang="zh-CN" dirty="0"/>
              <a:t>Reasoning logs show explicit calculation of system-wide benefits over self-interest.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" altLang="zh-CN" b="1" dirty="0"/>
          </a:p>
        </p:txBody>
      </p:sp>
      <p:pic>
        <p:nvPicPr>
          <p:cNvPr id="3" name="Picture 2" descr="Home | CUHK-Shenzhen">
            <a:extLst>
              <a:ext uri="{FF2B5EF4-FFF2-40B4-BE49-F238E27FC236}">
                <a16:creationId xmlns:a16="http://schemas.microsoft.com/office/drawing/2014/main" id="{B2A8ED5C-A5AE-EBE2-E947-9ACBAFEE618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34349" y="167886"/>
            <a:ext cx="3048537" cy="4373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文本框 10">
            <a:extLst>
              <a:ext uri="{FF2B5EF4-FFF2-40B4-BE49-F238E27FC236}">
                <a16:creationId xmlns:a16="http://schemas.microsoft.com/office/drawing/2014/main" id="{231FF215-17E6-FD9F-4810-BE7E7D3B44B5}"/>
              </a:ext>
            </a:extLst>
          </p:cNvPr>
          <p:cNvSpPr txBox="1"/>
          <p:nvPr/>
        </p:nvSpPr>
        <p:spPr>
          <a:xfrm>
            <a:off x="244867" y="3807706"/>
            <a:ext cx="321968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000" b="1" i="1" dirty="0">
                <a:solidFill>
                  <a:srgbClr val="082E72"/>
                </a:solidFill>
              </a:rPr>
              <a:t>Without Message Board: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B3D1DD3F-D845-54C4-D52E-AE938308B6A4}"/>
              </a:ext>
            </a:extLst>
          </p:cNvPr>
          <p:cNvSpPr txBox="1"/>
          <p:nvPr/>
        </p:nvSpPr>
        <p:spPr>
          <a:xfrm>
            <a:off x="4596648" y="3796640"/>
            <a:ext cx="321968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000" b="1" i="1" dirty="0">
                <a:solidFill>
                  <a:srgbClr val="082E72"/>
                </a:solidFill>
              </a:rPr>
              <a:t>With Message Board:</a:t>
            </a:r>
          </a:p>
        </p:txBody>
      </p:sp>
      <p:pic>
        <p:nvPicPr>
          <p:cNvPr id="13" name="图片 12">
            <a:extLst>
              <a:ext uri="{FF2B5EF4-FFF2-40B4-BE49-F238E27FC236}">
                <a16:creationId xmlns:a16="http://schemas.microsoft.com/office/drawing/2014/main" id="{9AC11DAD-529A-9A4D-B109-EAD774BC458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49554" y="4306002"/>
            <a:ext cx="4474486" cy="801401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186D892D-7ED0-9544-2BB9-FA18E445574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8084" y="4306001"/>
            <a:ext cx="4474486" cy="801401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B97E67A3-F3EE-03AC-E493-7D6E8BCA3E0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5216653"/>
            <a:ext cx="4849554" cy="359893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3247EC70-2294-6B8B-9A50-53162AA2137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61187" y="5195711"/>
            <a:ext cx="4026881" cy="401775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25A3CFAC-A1A0-1330-EBF2-9CCBD6F8A2A8}"/>
              </a:ext>
            </a:extLst>
          </p:cNvPr>
          <p:cNvSpPr txBox="1"/>
          <p:nvPr/>
        </p:nvSpPr>
        <p:spPr>
          <a:xfrm>
            <a:off x="282718" y="5773968"/>
            <a:ext cx="2934388" cy="830997"/>
          </a:xfrm>
          <a:prstGeom prst="rect">
            <a:avLst/>
          </a:prstGeom>
          <a:ln>
            <a:solidFill>
              <a:schemeClr val="accent2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" altLang="zh-CN" sz="1600" b="1" dirty="0">
                <a:solidFill>
                  <a:srgbClr val="C00000"/>
                </a:solidFill>
              </a:rPr>
              <a:t>Default:</a:t>
            </a:r>
          </a:p>
          <a:p>
            <a:r>
              <a:rPr lang="en" altLang="zh-CN" sz="1600" dirty="0">
                <a:solidFill>
                  <a:srgbClr val="C00000"/>
                </a:solidFill>
              </a:rPr>
              <a:t>Optimal </a:t>
            </a:r>
            <a:r>
              <a:rPr lang="en" altLang="zh-CN" sz="1600" dirty="0" err="1">
                <a:solidFill>
                  <a:srgbClr val="C00000"/>
                </a:solidFill>
              </a:rPr>
              <a:t>PoA</a:t>
            </a:r>
            <a:r>
              <a:rPr lang="en" altLang="zh-CN" sz="1600" dirty="0">
                <a:solidFill>
                  <a:srgbClr val="C00000"/>
                </a:solidFill>
              </a:rPr>
              <a:t>, 0 Gini index, high prop. of altruistic actions 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A51462C1-A09D-E5F4-75DD-E3C9C46EE949}"/>
              </a:ext>
            </a:extLst>
          </p:cNvPr>
          <p:cNvSpPr txBox="1"/>
          <p:nvPr/>
        </p:nvSpPr>
        <p:spPr>
          <a:xfrm>
            <a:off x="5082570" y="5948024"/>
            <a:ext cx="3165750" cy="584775"/>
          </a:xfrm>
          <a:prstGeom prst="rect">
            <a:avLst/>
          </a:prstGeom>
          <a:ln>
            <a:solidFill>
              <a:schemeClr val="accent2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" altLang="zh-CN" sz="1600" b="1" dirty="0">
                <a:solidFill>
                  <a:srgbClr val="C00000"/>
                </a:solidFill>
              </a:rPr>
              <a:t>No change</a:t>
            </a:r>
            <a:r>
              <a:rPr lang="en" altLang="zh-CN" sz="1600" dirty="0">
                <a:solidFill>
                  <a:srgbClr val="C00000"/>
                </a:solidFill>
              </a:rPr>
              <a:t> in </a:t>
            </a:r>
            <a:r>
              <a:rPr lang="en" altLang="zh-CN" sz="1600" dirty="0" err="1">
                <a:solidFill>
                  <a:srgbClr val="C00000"/>
                </a:solidFill>
              </a:rPr>
              <a:t>PoA</a:t>
            </a:r>
            <a:r>
              <a:rPr lang="en" altLang="zh-CN" sz="1600" dirty="0">
                <a:solidFill>
                  <a:srgbClr val="C00000"/>
                </a:solidFill>
              </a:rPr>
              <a:t> and Gini</a:t>
            </a:r>
          </a:p>
          <a:p>
            <a:r>
              <a:rPr lang="en" altLang="zh-CN" sz="1600" b="1" dirty="0">
                <a:solidFill>
                  <a:srgbClr val="C00000"/>
                </a:solidFill>
              </a:rPr>
              <a:t>Slightly changes </a:t>
            </a:r>
            <a:r>
              <a:rPr lang="en" altLang="zh-CN" sz="1600" dirty="0">
                <a:solidFill>
                  <a:srgbClr val="C00000"/>
                </a:solidFill>
              </a:rPr>
              <a:t>in action types</a:t>
            </a:r>
            <a:endParaRPr lang="en" altLang="zh-CN" sz="1600" b="1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2518426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D2F491-A372-0A67-FBD7-AD625744F7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02E09A52-DBC4-18B9-6709-F8C6F0CDBCA7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261114" y="167886"/>
            <a:ext cx="6590790" cy="480131"/>
          </a:xfrm>
        </p:spPr>
        <p:txBody>
          <a:bodyPr/>
          <a:lstStyle/>
          <a:p>
            <a:r>
              <a:rPr lang="en-US" altLang="zh-CN" sz="2800" dirty="0"/>
              <a:t>Results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02DF1093-8788-8371-F29E-0BEE12E829B1}"/>
              </a:ext>
            </a:extLst>
          </p:cNvPr>
          <p:cNvSpPr txBox="1"/>
          <p:nvPr/>
        </p:nvSpPr>
        <p:spPr>
          <a:xfrm>
            <a:off x="261114" y="1010447"/>
            <a:ext cx="726366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000" b="1" i="1" dirty="0">
                <a:solidFill>
                  <a:srgbClr val="082E72"/>
                </a:solidFill>
              </a:rPr>
              <a:t>Second Archetype: Altruistic Optimizers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7F14BCEF-BFA6-F4FD-CA40-D834FE34B4EA}"/>
              </a:ext>
            </a:extLst>
          </p:cNvPr>
          <p:cNvSpPr txBox="1"/>
          <p:nvPr/>
        </p:nvSpPr>
        <p:spPr>
          <a:xfrm>
            <a:off x="282718" y="1460591"/>
            <a:ext cx="8291265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altLang="zh-CN" b="1" dirty="0"/>
              <a:t>Behavior:</a:t>
            </a:r>
            <a:endParaRPr lang="en" altLang="zh-C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" altLang="zh-CN" b="1" dirty="0"/>
              <a:t>Default:</a:t>
            </a:r>
            <a:r>
              <a:rPr lang="en" altLang="zh-CN" dirty="0"/>
              <a:t> System Awareness &amp; Goal Synthesis.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" altLang="zh-CN" b="1" dirty="0"/>
              <a:t>Strong Reciprocity:</a:t>
            </a:r>
            <a:r>
              <a:rPr lang="en" altLang="zh-CN" dirty="0"/>
              <a:t> Willing to incur personal costs for collective gain.</a:t>
            </a:r>
          </a:p>
          <a:p>
            <a:endParaRPr lang="en" altLang="zh-CN" b="1" dirty="0"/>
          </a:p>
          <a:p>
            <a:r>
              <a:rPr lang="en" altLang="zh-CN" b="1" dirty="0"/>
              <a:t>Evidence:</a:t>
            </a:r>
            <a:endParaRPr lang="en" altLang="zh-C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" altLang="zh-CN" dirty="0"/>
              <a:t>Achieve </a:t>
            </a:r>
            <a:r>
              <a:rPr lang="en" altLang="zh-CN" b="1" dirty="0">
                <a:solidFill>
                  <a:srgbClr val="C00000"/>
                </a:solidFill>
              </a:rPr>
              <a:t>perfect equilibrium </a:t>
            </a:r>
            <a:r>
              <a:rPr lang="en" altLang="zh-CN" dirty="0"/>
              <a:t>(</a:t>
            </a:r>
            <a:r>
              <a:rPr lang="en" altLang="zh-CN" dirty="0" err="1"/>
              <a:t>PoA</a:t>
            </a:r>
            <a:r>
              <a:rPr lang="en" altLang="zh-CN" dirty="0"/>
              <a:t> = 1.0) even </a:t>
            </a:r>
            <a:r>
              <a:rPr lang="en" altLang="zh-CN" b="1" dirty="0"/>
              <a:t>without communication</a:t>
            </a:r>
            <a:r>
              <a:rPr lang="en" altLang="zh-CN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" altLang="zh-CN" dirty="0"/>
              <a:t>Reasoning logs show explicit calculation of system-wide benefits over self-interest.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" altLang="zh-CN" b="1" dirty="0"/>
          </a:p>
        </p:txBody>
      </p:sp>
      <p:pic>
        <p:nvPicPr>
          <p:cNvPr id="3" name="Picture 2" descr="Home | CUHK-Shenzhen">
            <a:extLst>
              <a:ext uri="{FF2B5EF4-FFF2-40B4-BE49-F238E27FC236}">
                <a16:creationId xmlns:a16="http://schemas.microsoft.com/office/drawing/2014/main" id="{D117E42F-5F59-A96C-C0F0-AD15803D5F4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34349" y="167886"/>
            <a:ext cx="3048537" cy="4373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文本框 10">
            <a:extLst>
              <a:ext uri="{FF2B5EF4-FFF2-40B4-BE49-F238E27FC236}">
                <a16:creationId xmlns:a16="http://schemas.microsoft.com/office/drawing/2014/main" id="{17B41D49-3928-C7CE-B352-564A1793971A}"/>
              </a:ext>
            </a:extLst>
          </p:cNvPr>
          <p:cNvSpPr txBox="1"/>
          <p:nvPr/>
        </p:nvSpPr>
        <p:spPr>
          <a:xfrm>
            <a:off x="244867" y="3807706"/>
            <a:ext cx="321968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000" b="1" i="1" dirty="0">
                <a:solidFill>
                  <a:srgbClr val="082E72"/>
                </a:solidFill>
              </a:rPr>
              <a:t>Without Message Board: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1EDFE428-5B38-2A95-461A-67BDFF938F98}"/>
              </a:ext>
            </a:extLst>
          </p:cNvPr>
          <p:cNvSpPr txBox="1"/>
          <p:nvPr/>
        </p:nvSpPr>
        <p:spPr>
          <a:xfrm>
            <a:off x="4596648" y="3796640"/>
            <a:ext cx="321968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000" b="1" i="1" dirty="0">
                <a:solidFill>
                  <a:srgbClr val="082E72"/>
                </a:solidFill>
              </a:rPr>
              <a:t>With Message Board: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1D0C24CC-2775-4391-8B31-EDE19DBE98E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2909" y="4235701"/>
            <a:ext cx="3403600" cy="1234129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A074FA44-84F0-3D93-60C7-DE81A0DC5AF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61114" y="5510448"/>
            <a:ext cx="3327400" cy="1220474"/>
          </a:xfrm>
          <a:prstGeom prst="rect">
            <a:avLst/>
          </a:prstGeom>
        </p:spPr>
      </p:pic>
      <p:pic>
        <p:nvPicPr>
          <p:cNvPr id="14" name="图片 13">
            <a:extLst>
              <a:ext uri="{FF2B5EF4-FFF2-40B4-BE49-F238E27FC236}">
                <a16:creationId xmlns:a16="http://schemas.microsoft.com/office/drawing/2014/main" id="{B6B6BFDB-3325-1EFA-AA38-9CC08691EBB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679187" y="4264233"/>
            <a:ext cx="3324593" cy="1234129"/>
          </a:xfrm>
          <a:prstGeom prst="rect">
            <a:avLst/>
          </a:prstGeom>
        </p:spPr>
      </p:pic>
      <p:pic>
        <p:nvPicPr>
          <p:cNvPr id="16" name="图片 15">
            <a:extLst>
              <a:ext uri="{FF2B5EF4-FFF2-40B4-BE49-F238E27FC236}">
                <a16:creationId xmlns:a16="http://schemas.microsoft.com/office/drawing/2014/main" id="{7932020E-4E5F-5934-3195-84D4F09CC64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79188" y="5445818"/>
            <a:ext cx="3314700" cy="1270000"/>
          </a:xfrm>
          <a:prstGeom prst="rect">
            <a:avLst/>
          </a:prstGeom>
        </p:spPr>
      </p:pic>
      <p:pic>
        <p:nvPicPr>
          <p:cNvPr id="17" name="图片 16">
            <a:extLst>
              <a:ext uri="{FF2B5EF4-FFF2-40B4-BE49-F238E27FC236}">
                <a16:creationId xmlns:a16="http://schemas.microsoft.com/office/drawing/2014/main" id="{692DD597-9055-F646-98A9-5FF91AF1E0C3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664714" y="4389409"/>
            <a:ext cx="800100" cy="2273300"/>
          </a:xfrm>
          <a:prstGeom prst="rect">
            <a:avLst/>
          </a:prstGeom>
        </p:spPr>
      </p:pic>
      <p:pic>
        <p:nvPicPr>
          <p:cNvPr id="18" name="图片 17">
            <a:extLst>
              <a:ext uri="{FF2B5EF4-FFF2-40B4-BE49-F238E27FC236}">
                <a16:creationId xmlns:a16="http://schemas.microsoft.com/office/drawing/2014/main" id="{C41B467A-D652-86A5-FE66-7B90769E8CC1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126474" y="4302818"/>
            <a:ext cx="914400" cy="2413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776167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79B06B-834F-7996-C7F5-CE25F2536C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B7F3CA1E-27F0-5B0C-E9A8-751D0498246A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261114" y="167886"/>
            <a:ext cx="6590790" cy="480131"/>
          </a:xfrm>
        </p:spPr>
        <p:txBody>
          <a:bodyPr/>
          <a:lstStyle/>
          <a:p>
            <a:r>
              <a:rPr lang="en-US" altLang="zh-CN" sz="2800" dirty="0"/>
              <a:t>Results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6E8FB575-51DC-5DC1-3725-E4A8AFC8E8EB}"/>
              </a:ext>
            </a:extLst>
          </p:cNvPr>
          <p:cNvSpPr txBox="1"/>
          <p:nvPr/>
        </p:nvSpPr>
        <p:spPr>
          <a:xfrm>
            <a:off x="261114" y="1010447"/>
            <a:ext cx="726366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000" b="1" i="1" dirty="0">
                <a:solidFill>
                  <a:srgbClr val="082E72"/>
                </a:solidFill>
              </a:rPr>
              <a:t>Analysis of Reasoning Log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3624C1B-82A3-AD31-B0BC-0B6BF5FADF45}"/>
              </a:ext>
            </a:extLst>
          </p:cNvPr>
          <p:cNvSpPr txBox="1"/>
          <p:nvPr/>
        </p:nvSpPr>
        <p:spPr>
          <a:xfrm>
            <a:off x="282718" y="1460591"/>
            <a:ext cx="8861282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altLang="zh-CN" b="1" dirty="0"/>
              <a:t>Why two archetypes are different? Evidence from the Reasoning</a:t>
            </a:r>
          </a:p>
          <a:p>
            <a:endParaRPr lang="en" altLang="zh-CN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" altLang="zh-CN" b="1" dirty="0"/>
              <a:t>Adaptive Egoists (a case from o1-mini):</a:t>
            </a:r>
            <a:endParaRPr lang="en" altLang="zh-CN" dirty="0"/>
          </a:p>
          <a:p>
            <a:endParaRPr lang="en" altLang="zh-CN" dirty="0"/>
          </a:p>
          <a:p>
            <a:endParaRPr lang="en" altLang="zh-CN" dirty="0"/>
          </a:p>
          <a:p>
            <a:endParaRPr lang="en" altLang="zh-CN" dirty="0"/>
          </a:p>
          <a:p>
            <a:endParaRPr lang="en" altLang="zh-CN" dirty="0"/>
          </a:p>
          <a:p>
            <a:endParaRPr lang="en" altLang="zh-CN" dirty="0"/>
          </a:p>
          <a:p>
            <a:endParaRPr lang="en" altLang="zh-CN" dirty="0"/>
          </a:p>
          <a:p>
            <a:endParaRPr lang="en" altLang="zh-C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" altLang="zh-CN" b="1" dirty="0"/>
              <a:t>Altruistic Optimizers (a case from Deepseek-R1):</a:t>
            </a:r>
            <a:endParaRPr lang="en" altLang="zh-CN" dirty="0"/>
          </a:p>
        </p:txBody>
      </p:sp>
      <p:pic>
        <p:nvPicPr>
          <p:cNvPr id="3" name="Picture 2" descr="Home | CUHK-Shenzhen">
            <a:extLst>
              <a:ext uri="{FF2B5EF4-FFF2-40B4-BE49-F238E27FC236}">
                <a16:creationId xmlns:a16="http://schemas.microsoft.com/office/drawing/2014/main" id="{B1D54C89-ABE6-2D67-9766-65E4AC9CC66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34349" y="167886"/>
            <a:ext cx="3048537" cy="4373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A68F4A9D-6881-A118-E326-3053A1F1A48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2488589"/>
            <a:ext cx="6653151" cy="1609977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9538EE24-A02D-4C18-8D11-5E5F9A1C663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1421" y="4573193"/>
            <a:ext cx="7772400" cy="2047194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4E3FB032-146E-DCFB-2C08-83D7FD9178FC}"/>
              </a:ext>
            </a:extLst>
          </p:cNvPr>
          <p:cNvSpPr txBox="1"/>
          <p:nvPr/>
        </p:nvSpPr>
        <p:spPr>
          <a:xfrm>
            <a:off x="5695532" y="2432117"/>
            <a:ext cx="3165750" cy="584775"/>
          </a:xfrm>
          <a:prstGeom prst="rect">
            <a:avLst/>
          </a:prstGeom>
          <a:ln>
            <a:solidFill>
              <a:schemeClr val="accent2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" altLang="zh-CN" sz="1600" b="1" dirty="0">
                <a:solidFill>
                  <a:srgbClr val="C00000"/>
                </a:solidFill>
              </a:rPr>
              <a:t>Prioritizing individual interests over collective interests!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9D37FCA4-7E62-DFD2-D7E4-67B6BD23850A}"/>
              </a:ext>
            </a:extLst>
          </p:cNvPr>
          <p:cNvSpPr txBox="1"/>
          <p:nvPr/>
        </p:nvSpPr>
        <p:spPr>
          <a:xfrm>
            <a:off x="5990126" y="4489764"/>
            <a:ext cx="3165750" cy="584775"/>
          </a:xfrm>
          <a:prstGeom prst="rect">
            <a:avLst/>
          </a:prstGeom>
          <a:ln>
            <a:solidFill>
              <a:schemeClr val="accent2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" altLang="zh-CN" sz="1600" b="1" dirty="0">
                <a:solidFill>
                  <a:srgbClr val="C00000"/>
                </a:solidFill>
              </a:rPr>
              <a:t>Sacrifice personal interests for the system</a:t>
            </a:r>
            <a:r>
              <a:rPr lang="zh-CN" altLang="en-US" sz="1600" b="1" dirty="0">
                <a:solidFill>
                  <a:srgbClr val="C00000"/>
                </a:solidFill>
              </a:rPr>
              <a:t> </a:t>
            </a:r>
            <a:r>
              <a:rPr lang="en-US" altLang="zh-CN" sz="1600" b="1" dirty="0">
                <a:solidFill>
                  <a:srgbClr val="C00000"/>
                </a:solidFill>
              </a:rPr>
              <a:t>utility</a:t>
            </a:r>
            <a:endParaRPr lang="en" altLang="zh-CN" sz="1600" b="1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140981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FD3D33-3366-ECD0-C922-ED487A173C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3D575333-E359-27AC-BCCD-5BB60BAF4A5D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261114" y="167886"/>
            <a:ext cx="6590790" cy="480131"/>
          </a:xfrm>
        </p:spPr>
        <p:txBody>
          <a:bodyPr/>
          <a:lstStyle/>
          <a:p>
            <a:r>
              <a:rPr lang="en-US" altLang="zh-CN" sz="2800" dirty="0"/>
              <a:t>Results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13757993-8522-248B-89EA-79BC3E396942}"/>
              </a:ext>
            </a:extLst>
          </p:cNvPr>
          <p:cNvSpPr txBox="1"/>
          <p:nvPr/>
        </p:nvSpPr>
        <p:spPr>
          <a:xfrm>
            <a:off x="261114" y="1010447"/>
            <a:ext cx="726366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000" b="1" i="1" dirty="0">
                <a:solidFill>
                  <a:srgbClr val="082E72"/>
                </a:solidFill>
              </a:rPr>
              <a:t>Grounded Theory Analysis to Reasoning Log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51E87BD6-01FB-8040-9BDD-D9E0F43B3553}"/>
              </a:ext>
            </a:extLst>
          </p:cNvPr>
          <p:cNvSpPr txBox="1"/>
          <p:nvPr/>
        </p:nvSpPr>
        <p:spPr>
          <a:xfrm>
            <a:off x="282718" y="1460591"/>
            <a:ext cx="8861282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altLang="zh-CN" b="1" dirty="0"/>
              <a:t>Why two archetypes are different? Evidence from the Message Board</a:t>
            </a:r>
          </a:p>
          <a:p>
            <a:endParaRPr lang="en" altLang="zh-CN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" altLang="zh-CN" b="1" dirty="0"/>
              <a:t>Adaptive Egoists (Norm-Setting):</a:t>
            </a:r>
            <a:endParaRPr lang="en" altLang="zh-CN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" altLang="zh-CN" dirty="0"/>
              <a:t>Use board to </a:t>
            </a:r>
            <a:r>
              <a:rPr lang="en" altLang="zh-CN" b="1" dirty="0">
                <a:solidFill>
                  <a:srgbClr val="C00000"/>
                </a:solidFill>
              </a:rPr>
              <a:t>negotiate and persuade</a:t>
            </a:r>
            <a:r>
              <a:rPr lang="en" altLang="zh-CN" dirty="0"/>
              <a:t>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" altLang="zh-CN" i="1" dirty="0"/>
              <a:t>Example Message:</a:t>
            </a:r>
            <a:r>
              <a:rPr lang="en" altLang="zh-CN" dirty="0"/>
              <a:t> "</a:t>
            </a:r>
            <a:r>
              <a:rPr lang="en" altLang="zh-CN" b="1" dirty="0">
                <a:solidFill>
                  <a:srgbClr val="C00000"/>
                </a:solidFill>
              </a:rPr>
              <a:t>Let's</a:t>
            </a:r>
            <a:r>
              <a:rPr lang="en" altLang="zh-CN" dirty="0">
                <a:solidFill>
                  <a:srgbClr val="C00000"/>
                </a:solidFill>
              </a:rPr>
              <a:t> </a:t>
            </a:r>
            <a:r>
              <a:rPr lang="en" altLang="zh-CN" dirty="0"/>
              <a:t>maintain balanced densities..." (Social Appeal).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" altLang="zh-CN" dirty="0"/>
              <a:t>Mechanism: </a:t>
            </a:r>
            <a:r>
              <a:rPr lang="en" altLang="zh-CN" b="1" dirty="0"/>
              <a:t>Social Influence</a:t>
            </a:r>
            <a:r>
              <a:rPr lang="en" altLang="zh-CN" dirty="0"/>
              <a:t> transforms egoism into pro-social behavior.</a:t>
            </a:r>
          </a:p>
          <a:p>
            <a:endParaRPr lang="en" altLang="zh-CN" dirty="0"/>
          </a:p>
          <a:p>
            <a:endParaRPr lang="en" altLang="zh-CN" dirty="0"/>
          </a:p>
          <a:p>
            <a:endParaRPr lang="en" altLang="zh-CN" dirty="0"/>
          </a:p>
          <a:p>
            <a:endParaRPr lang="en" altLang="zh-C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" altLang="zh-CN" b="1" dirty="0"/>
              <a:t>Altruistic Optimizers (Coordination):</a:t>
            </a:r>
            <a:endParaRPr lang="en" altLang="zh-CN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" altLang="zh-CN" dirty="0"/>
              <a:t>Use board to coordinate </a:t>
            </a:r>
            <a:r>
              <a:rPr lang="en" altLang="zh-CN" b="1" dirty="0">
                <a:solidFill>
                  <a:srgbClr val="C00000"/>
                </a:solidFill>
              </a:rPr>
              <a:t>pre-existing altruistic goals</a:t>
            </a:r>
            <a:r>
              <a:rPr lang="en" altLang="zh-CN" dirty="0"/>
              <a:t>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" altLang="zh-CN" i="1" dirty="0"/>
              <a:t>Example Message:</a:t>
            </a:r>
            <a:r>
              <a:rPr lang="en" altLang="zh-CN" dirty="0"/>
              <a:t> "I'm moving... it's a small hit to my personal reward, but a big win for the collective.". (</a:t>
            </a:r>
            <a:r>
              <a:rPr lang="en" altLang="zh-CN" b="1" dirty="0">
                <a:solidFill>
                  <a:srgbClr val="C00000"/>
                </a:solidFill>
              </a:rPr>
              <a:t>A very altruistic quote, everyone is altruistic</a:t>
            </a:r>
            <a:r>
              <a:rPr lang="en" altLang="zh-CN" dirty="0"/>
              <a:t>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" altLang="zh-CN" dirty="0"/>
              <a:t>Mechanism: </a:t>
            </a:r>
            <a:r>
              <a:rPr lang="en" altLang="zh-CN" b="1" dirty="0"/>
              <a:t>Information Channel</a:t>
            </a:r>
            <a:r>
              <a:rPr lang="en" altLang="zh-CN" dirty="0"/>
              <a:t> for optimization.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" altLang="zh-CN" dirty="0"/>
          </a:p>
        </p:txBody>
      </p:sp>
      <p:pic>
        <p:nvPicPr>
          <p:cNvPr id="3" name="Picture 2" descr="Home | CUHK-Shenzhen">
            <a:extLst>
              <a:ext uri="{FF2B5EF4-FFF2-40B4-BE49-F238E27FC236}">
                <a16:creationId xmlns:a16="http://schemas.microsoft.com/office/drawing/2014/main" id="{23032379-EF65-2B20-7AB4-5DDBEE0A729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34349" y="167886"/>
            <a:ext cx="3048537" cy="4373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D55D399A-0DDA-2BBE-AB34-5AF259D1ECA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77319" y="3199540"/>
            <a:ext cx="5589362" cy="1081533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FA3E2259-9244-8D7B-25C8-9F959E13992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17479" y="5638374"/>
            <a:ext cx="5807297" cy="13206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617547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411542-6ACD-F45A-2521-EBA9C8E69A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2C527BF0-F4B0-C773-56FA-1A9720B01D10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261114" y="167886"/>
            <a:ext cx="6590790" cy="480131"/>
          </a:xfrm>
        </p:spPr>
        <p:txBody>
          <a:bodyPr/>
          <a:lstStyle/>
          <a:p>
            <a:r>
              <a:rPr lang="en-US" altLang="zh-CN" sz="2800" dirty="0"/>
              <a:t>Discussion &amp; Conclusion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CF062AE9-BF97-2A3B-0701-907371731C43}"/>
              </a:ext>
            </a:extLst>
          </p:cNvPr>
          <p:cNvSpPr txBox="1"/>
          <p:nvPr/>
        </p:nvSpPr>
        <p:spPr>
          <a:xfrm>
            <a:off x="261114" y="1010447"/>
            <a:ext cx="726366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000" b="1" i="1" dirty="0">
                <a:solidFill>
                  <a:srgbClr val="082E72"/>
                </a:solidFill>
              </a:rPr>
              <a:t>Model Choice as Theory Choice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37C2BDF0-3229-24E7-4F8E-710CFDA343B4}"/>
              </a:ext>
            </a:extLst>
          </p:cNvPr>
          <p:cNvSpPr txBox="1"/>
          <p:nvPr/>
        </p:nvSpPr>
        <p:spPr>
          <a:xfrm>
            <a:off x="282719" y="1460591"/>
            <a:ext cx="8578557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altLang="zh-CN" b="1" dirty="0"/>
              <a:t>A New Guideline for Social Simulation:</a:t>
            </a:r>
            <a:endParaRPr lang="en" altLang="zh-C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" altLang="zh-CN" dirty="0"/>
              <a:t>Selecting an LLM is not just about "intelligence" or "reasoning capability."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" altLang="zh-CN" dirty="0"/>
              <a:t>It is a choice of the simulation's </a:t>
            </a:r>
            <a:r>
              <a:rPr lang="en" altLang="zh-CN" b="1" dirty="0"/>
              <a:t>theoretical foundation</a:t>
            </a:r>
            <a:r>
              <a:rPr lang="en" altLang="zh-CN" dirty="0"/>
              <a:t>.</a:t>
            </a:r>
          </a:p>
          <a:p>
            <a:endParaRPr lang="en" altLang="zh-CN" dirty="0"/>
          </a:p>
          <a:p>
            <a:r>
              <a:rPr lang="en" altLang="zh-CN" b="1" dirty="0"/>
              <a:t>Potential Guidance:</a:t>
            </a:r>
            <a:endParaRPr lang="en" altLang="zh-C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" altLang="zh-CN" dirty="0"/>
              <a:t>Use </a:t>
            </a:r>
            <a:r>
              <a:rPr lang="en" altLang="zh-CN" b="1" dirty="0"/>
              <a:t>Adaptive Egoists</a:t>
            </a:r>
            <a:r>
              <a:rPr lang="en" altLang="zh-CN" dirty="0"/>
              <a:t> to simulate complex human dynamics (evolution of norms, sub-optimal outcomes).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" altLang="zh-CN" dirty="0"/>
              <a:t>Use </a:t>
            </a:r>
            <a:r>
              <a:rPr lang="en" altLang="zh-CN" b="1" dirty="0"/>
              <a:t>Altruistic Optimizers</a:t>
            </a:r>
            <a:r>
              <a:rPr lang="en" altLang="zh-CN" dirty="0"/>
              <a:t> for idealized cooperative systems or mechanism design.</a:t>
            </a:r>
          </a:p>
          <a:p>
            <a:endParaRPr lang="en" altLang="zh-CN" dirty="0"/>
          </a:p>
        </p:txBody>
      </p:sp>
      <p:pic>
        <p:nvPicPr>
          <p:cNvPr id="3" name="Picture 2" descr="Home | CUHK-Shenzhen">
            <a:extLst>
              <a:ext uri="{FF2B5EF4-FFF2-40B4-BE49-F238E27FC236}">
                <a16:creationId xmlns:a16="http://schemas.microsoft.com/office/drawing/2014/main" id="{4EDF6D61-02B9-32D4-34DE-EC2192779F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34349" y="167886"/>
            <a:ext cx="3048537" cy="4373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9F8E38FB-9529-BD9F-06CE-C0DB48F36A7E}"/>
              </a:ext>
            </a:extLst>
          </p:cNvPr>
          <p:cNvSpPr txBox="1"/>
          <p:nvPr/>
        </p:nvSpPr>
        <p:spPr>
          <a:xfrm>
            <a:off x="282719" y="4033360"/>
            <a:ext cx="726366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000" b="1" i="1" dirty="0">
                <a:solidFill>
                  <a:srgbClr val="082E72"/>
                </a:solidFill>
              </a:rPr>
              <a:t>Future Work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A08D7078-1440-7D2F-9DE0-5F8E92CC7AEA}"/>
              </a:ext>
            </a:extLst>
          </p:cNvPr>
          <p:cNvSpPr txBox="1"/>
          <p:nvPr/>
        </p:nvSpPr>
        <p:spPr>
          <a:xfrm>
            <a:off x="282719" y="4433470"/>
            <a:ext cx="8578557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" altLang="zh-CN" b="1" dirty="0">
                <a:solidFill>
                  <a:srgbClr val="C00000"/>
                </a:solidFill>
              </a:rPr>
              <a:t>Human-in-the-loop (Ongoing)</a:t>
            </a:r>
            <a:r>
              <a:rPr lang="en" altLang="zh-CN" dirty="0">
                <a:solidFill>
                  <a:srgbClr val="C00000"/>
                </a:solidFill>
              </a:rPr>
              <a:t>: </a:t>
            </a:r>
            <a:r>
              <a:rPr lang="en" altLang="zh-CN" dirty="0"/>
              <a:t>Validate against real human participants.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" altLang="zh-CN" b="1" dirty="0"/>
              <a:t>Simulation with Alignment</a:t>
            </a:r>
            <a:r>
              <a:rPr lang="en" altLang="zh-CN" dirty="0"/>
              <a:t>: Introduce diverse agent profiles/preferences.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" altLang="zh-CN" b="1" dirty="0"/>
              <a:t>Scale</a:t>
            </a:r>
            <a:r>
              <a:rPr lang="en" altLang="zh-CN" dirty="0"/>
              <a:t>: Expand to larger "Digital Twins" of urban systems.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" altLang="zh-CN" dirty="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FA6E7D77-3127-AD32-C83F-C96643A87551}"/>
              </a:ext>
            </a:extLst>
          </p:cNvPr>
          <p:cNvSpPr txBox="1"/>
          <p:nvPr/>
        </p:nvSpPr>
        <p:spPr>
          <a:xfrm>
            <a:off x="282719" y="5397409"/>
            <a:ext cx="726366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000" b="1" i="1" dirty="0">
                <a:solidFill>
                  <a:srgbClr val="082E72"/>
                </a:solidFill>
              </a:rPr>
              <a:t>Preprint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550D9F33-9015-B0B5-7DCB-8DF163C74D6D}"/>
              </a:ext>
            </a:extLst>
          </p:cNvPr>
          <p:cNvSpPr txBox="1"/>
          <p:nvPr/>
        </p:nvSpPr>
        <p:spPr>
          <a:xfrm>
            <a:off x="304329" y="5847553"/>
            <a:ext cx="857855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altLang="zh-CN" dirty="0"/>
              <a:t>Preprint available at arXiv:2509.22537 </a:t>
            </a:r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92BC09C8-510C-34D7-7D5E-6B794A838E81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6782"/>
          <a:stretch>
            <a:fillRect/>
          </a:stretch>
        </p:blipFill>
        <p:spPr>
          <a:xfrm>
            <a:off x="4417620" y="5689319"/>
            <a:ext cx="1172029" cy="685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520906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D2C451-DA02-B1B4-7362-559CC43361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内容占位符 3">
            <a:extLst>
              <a:ext uri="{FF2B5EF4-FFF2-40B4-BE49-F238E27FC236}">
                <a16:creationId xmlns:a16="http://schemas.microsoft.com/office/drawing/2014/main" id="{AA7A98BC-AEA2-74A5-9B04-D0291137A958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768595" y="3429000"/>
            <a:ext cx="7606810" cy="1200329"/>
          </a:xfrm>
        </p:spPr>
        <p:txBody>
          <a:bodyPr/>
          <a:lstStyle/>
          <a:p>
            <a:pPr algn="ctr"/>
            <a:r>
              <a:rPr lang="en-US" altLang="zh-CN" sz="4000" dirty="0"/>
              <a:t>Code Implementations: Lab</a:t>
            </a:r>
            <a:endParaRPr lang="zh-CN" altLang="en-US" sz="4000" dirty="0"/>
          </a:p>
        </p:txBody>
      </p:sp>
      <p:pic>
        <p:nvPicPr>
          <p:cNvPr id="2" name="Picture 2" descr="Home | CUHK-Shenzhen">
            <a:extLst>
              <a:ext uri="{FF2B5EF4-FFF2-40B4-BE49-F238E27FC236}">
                <a16:creationId xmlns:a16="http://schemas.microsoft.com/office/drawing/2014/main" id="{8B05476F-7970-7E89-8C4C-F7099322801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34349" y="167886"/>
            <a:ext cx="3048537" cy="4373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0215808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PjGfTG4nSvOSPis2MokA2w"/>
</p:tagLst>
</file>

<file path=ppt/theme/theme1.xml><?xml version="1.0" encoding="utf-8"?>
<a:theme xmlns:a="http://schemas.openxmlformats.org/drawingml/2006/main" name="1_Office 主题​​">
  <a:themeElements>
    <a:clrScheme name="shenlan">
      <a:dk1>
        <a:srgbClr val="000000"/>
      </a:dk1>
      <a:lt1>
        <a:srgbClr val="FFFFFF"/>
      </a:lt1>
      <a:dk2>
        <a:srgbClr val="768394"/>
      </a:dk2>
      <a:lt2>
        <a:srgbClr val="F0F0F0"/>
      </a:lt2>
      <a:accent1>
        <a:srgbClr val="0070C0"/>
      </a:accent1>
      <a:accent2>
        <a:srgbClr val="082E72"/>
      </a:accent2>
      <a:accent3>
        <a:srgbClr val="D6ECFA"/>
      </a:accent3>
      <a:accent4>
        <a:srgbClr val="C8000B"/>
      </a:accent4>
      <a:accent5>
        <a:srgbClr val="FFC000"/>
      </a:accent5>
      <a:accent6>
        <a:srgbClr val="008080"/>
      </a:accent6>
      <a:hlink>
        <a:srgbClr val="00FFFF"/>
      </a:hlink>
      <a:folHlink>
        <a:srgbClr val="BFBFBF"/>
      </a:folHlink>
    </a:clrScheme>
    <a:fontScheme name="雅黑+arial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710840c0-6ee2-469f-a979-d85f31fe6adc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5D1918B3634BB543888BF544552EB392" ma:contentTypeVersion="13" ma:contentTypeDescription="Create a new document." ma:contentTypeScope="" ma:versionID="17500940a70ef57e64c4f1d2b9f87b26">
  <xsd:schema xmlns:xsd="http://www.w3.org/2001/XMLSchema" xmlns:xs="http://www.w3.org/2001/XMLSchema" xmlns:p="http://schemas.microsoft.com/office/2006/metadata/properties" xmlns:ns3="710840c0-6ee2-469f-a979-d85f31fe6adc" targetNamespace="http://schemas.microsoft.com/office/2006/metadata/properties" ma:root="true" ma:fieldsID="c376eaee2435b7531f9da18d7f0aebed" ns3:_="">
    <xsd:import namespace="710840c0-6ee2-469f-a979-d85f31fe6adc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Auto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ServiceDateTaken" minOccurs="0"/>
                <xsd:element ref="ns3:MediaLengthInSeconds" minOccurs="0"/>
                <xsd:element ref="ns3:_activity" minOccurs="0"/>
                <xsd:element ref="ns3:MediaServiceObjectDetectorVersions" minOccurs="0"/>
                <xsd:element ref="ns3:MediaServiceSystemTags" minOccurs="0"/>
                <xsd:element ref="ns3:MediaServiceLocation" minOccurs="0"/>
                <xsd:element ref="ns3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0840c0-6ee2-469f-a979-d85f31fe6ad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4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_activity" ma:index="16" nillable="true" ma:displayName="_activity" ma:hidden="true" ma:internalName="_activity">
      <xsd:simpleType>
        <xsd:restriction base="dms:Note"/>
      </xsd:simpleType>
    </xsd:element>
    <xsd:element name="MediaServiceObjectDetectorVersions" ma:index="17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ystemTags" ma:index="18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Location" ma:index="19" nillable="true" ma:displayName="Location" ma:description="" ma:indexed="true" ma:internalName="MediaServiceLocation" ma:readOnly="true">
      <xsd:simpleType>
        <xsd:restriction base="dms:Text"/>
      </xsd:simpleType>
    </xsd:element>
    <xsd:element name="MediaServiceSearchProperties" ma:index="2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224ADD0A-16A7-444B-8A16-0A7F59DA035C}">
  <ds:schemaRefs>
    <ds:schemaRef ds:uri="http://schemas.microsoft.com/office/infopath/2007/PartnerControls"/>
    <ds:schemaRef ds:uri="http://schemas.microsoft.com/office/2006/documentManagement/types"/>
    <ds:schemaRef ds:uri="http://purl.org/dc/elements/1.1/"/>
    <ds:schemaRef ds:uri="http://purl.org/dc/terms/"/>
    <ds:schemaRef ds:uri="http://schemas.openxmlformats.org/package/2006/metadata/core-properties"/>
    <ds:schemaRef ds:uri="710840c0-6ee2-469f-a979-d85f31fe6adc"/>
    <ds:schemaRef ds:uri="http://www.w3.org/XML/1998/namespace"/>
    <ds:schemaRef ds:uri="http://schemas.microsoft.com/office/2006/metadata/properties"/>
    <ds:schemaRef ds:uri="http://purl.org/dc/dcmitype/"/>
  </ds:schemaRefs>
</ds:datastoreItem>
</file>

<file path=customXml/itemProps2.xml><?xml version="1.0" encoding="utf-8"?>
<ds:datastoreItem xmlns:ds="http://schemas.openxmlformats.org/officeDocument/2006/customXml" ds:itemID="{CD55CDAC-F04E-4A2C-8959-A119007F7288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0840c0-6ee2-469f-a979-d85f31fe6adc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B7FC9246-ED69-4744-91BB-CF2E3F0A6270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11248</TotalTime>
  <Words>1686</Words>
  <Application>Microsoft Macintosh PowerPoint</Application>
  <PresentationFormat>On-screen Show (4:3)</PresentationFormat>
  <Paragraphs>262</Paragraphs>
  <Slides>21</Slides>
  <Notes>21</Notes>
  <HiddenSlides>0</HiddenSlides>
  <MMClips>0</MMClips>
  <ScaleCrop>false</ScaleCrop>
  <HeadingPairs>
    <vt:vector size="8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5" baseType="lpstr">
      <vt:lpstr>等线</vt:lpstr>
      <vt:lpstr>Arial</vt:lpstr>
      <vt:lpstr>1_Office 主题​​</vt:lpstr>
      <vt:lpstr>think-cell 幻灯片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孙 宇翔</dc:creator>
  <cp:lastModifiedBy>Prof. ZHAO Zhanzhan (HSS&amp;SAI)</cp:lastModifiedBy>
  <cp:revision>3347</cp:revision>
  <dcterms:created xsi:type="dcterms:W3CDTF">2022-11-16T08:09:18Z</dcterms:created>
  <dcterms:modified xsi:type="dcterms:W3CDTF">2025-12-03T00:35:17Z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E17176D46692DFB5AE9A74639905167F</vt:lpwstr>
  </property>
  <property fmtid="{D5CDD505-2E9C-101B-9397-08002B2CF9AE}" pid="3" name="KSOProductBuildVer">
    <vt:lpwstr>2052-4.1.1.6628</vt:lpwstr>
  </property>
  <property fmtid="{D5CDD505-2E9C-101B-9397-08002B2CF9AE}" pid="4" name="ContentTypeId">
    <vt:lpwstr>0x0101005D1918B3634BB543888BF544552EB392</vt:lpwstr>
  </property>
</Properties>
</file>